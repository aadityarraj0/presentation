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72" r:id="rId4"/>
    <p:sldId id="267" r:id="rId5"/>
    <p:sldId id="268" r:id="rId6"/>
    <p:sldId id="270" r:id="rId7"/>
    <p:sldId id="275" r:id="rId8"/>
    <p:sldId id="266" r:id="rId9"/>
    <p:sldId id="274" r:id="rId10"/>
    <p:sldId id="264" r:id="rId11"/>
    <p:sldId id="260" r:id="rId12"/>
    <p:sldId id="265" r:id="rId13"/>
  </p:sldIdLst>
  <p:sldSz cx="18288000" cy="10287000"/>
  <p:notesSz cx="6858000" cy="9144000"/>
  <p:embeddedFontLst>
    <p:embeddedFont>
      <p:font typeface="Agency FB" panose="020B0503020202020204" pitchFamily="34" charset="0"/>
      <p:regular r:id="rId15"/>
      <p:bold r:id="rId16"/>
    </p:embeddedFont>
    <p:embeddedFont>
      <p:font typeface="Canva Sans Bold" panose="020B0604020202020204" charset="0"/>
      <p:regular r:id="rId17"/>
    </p:embeddedFont>
    <p:embeddedFont>
      <p:font typeface="DM Sans" pitchFamily="2" charset="0"/>
      <p:regular r:id="rId18"/>
      <p:bold r:id="rId19"/>
      <p:italic r:id="rId20"/>
      <p:boldItalic r:id="rId21"/>
    </p:embeddedFont>
    <p:embeddedFont>
      <p:font typeface="Poppins" panose="00000500000000000000" pitchFamily="2" charset="0"/>
      <p:regular r:id="rId22"/>
      <p:bold r:id="rId23"/>
      <p:italic r:id="rId24"/>
      <p:boldItalic r:id="rId25"/>
    </p:embeddedFont>
    <p:embeddedFont>
      <p:font typeface="Poppins Bold" panose="00000800000000000000" charset="0"/>
      <p:regular r:id="rId26"/>
    </p:embeddedFont>
    <p:embeddedFont>
      <p:font typeface="Poppins Semi-Bold" panose="020B0604020202020204" charset="0"/>
      <p:regular r:id="rId27"/>
    </p:embeddedFont>
    <p:embeddedFont>
      <p:font typeface="Segoe UI Black" panose="020B0A02040204020203" pitchFamily="34" charset="0"/>
      <p:bold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5655"/>
    <a:srgbClr val="000000"/>
    <a:srgbClr val="6D8A88"/>
    <a:srgbClr val="C8FDF9"/>
    <a:srgbClr val="AAD7D4"/>
    <a:srgbClr val="81A3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72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99D45-1039-4732-917F-FED4C7219AA0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B7077B-52F1-4082-888D-28C1CED77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747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7077B-52F1-4082-888D-28C1CED7740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927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7077B-52F1-4082-888D-28C1CED7740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313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01622" y="-767350"/>
            <a:ext cx="22013892" cy="12354774"/>
          </a:xfrm>
          <a:custGeom>
            <a:avLst/>
            <a:gdLst/>
            <a:ahLst/>
            <a:cxnLst/>
            <a:rect l="l" t="t" r="r" b="b"/>
            <a:pathLst>
              <a:path w="22013892" h="12354774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467" b="-946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101622" y="-767350"/>
            <a:ext cx="22013892" cy="12299781"/>
            <a:chOff x="0" y="0"/>
            <a:chExt cx="5913785" cy="30845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913785" cy="3084567"/>
            </a:xfrm>
            <a:custGeom>
              <a:avLst/>
              <a:gdLst/>
              <a:ahLst/>
              <a:cxnLst/>
              <a:rect l="l" t="t" r="r" b="b"/>
              <a:pathLst>
                <a:path w="5913785" h="3084567">
                  <a:moveTo>
                    <a:pt x="0" y="0"/>
                  </a:moveTo>
                  <a:lnTo>
                    <a:pt x="5913785" y="0"/>
                  </a:lnTo>
                  <a:lnTo>
                    <a:pt x="5913785" y="3084567"/>
                  </a:lnTo>
                  <a:lnTo>
                    <a:pt x="0" y="3084567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913785" cy="31417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810333" y="6524368"/>
            <a:ext cx="8667334" cy="756677"/>
            <a:chOff x="0" y="0"/>
            <a:chExt cx="2282755" cy="19928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82754" cy="199289"/>
            </a:xfrm>
            <a:custGeom>
              <a:avLst/>
              <a:gdLst/>
              <a:ahLst/>
              <a:cxnLst/>
              <a:rect l="l" t="t" r="r" b="b"/>
              <a:pathLst>
                <a:path w="2282754" h="199289">
                  <a:moveTo>
                    <a:pt x="0" y="0"/>
                  </a:moveTo>
                  <a:lnTo>
                    <a:pt x="2282754" y="0"/>
                  </a:lnTo>
                  <a:lnTo>
                    <a:pt x="2282754" y="199289"/>
                  </a:lnTo>
                  <a:lnTo>
                    <a:pt x="0" y="199289"/>
                  </a:lnTo>
                  <a:close/>
                </a:path>
              </a:pathLst>
            </a:custGeom>
            <a:solidFill>
              <a:srgbClr val="AAD7D4"/>
            </a:solidFill>
            <a:ln w="28575" cap="sq">
              <a:solidFill>
                <a:srgbClr val="1C212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282755" cy="237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57517" y="1840273"/>
            <a:ext cx="15772966" cy="2962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47"/>
              </a:lnSpc>
            </a:pPr>
            <a:r>
              <a:rPr lang="en-US" sz="8747" b="1" spc="-472">
                <a:solidFill>
                  <a:srgbClr val="1C21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CASE ANALYSIS: </a:t>
            </a:r>
          </a:p>
          <a:p>
            <a:pPr algn="ctr">
              <a:lnSpc>
                <a:spcPts val="7347"/>
              </a:lnSpc>
            </a:pPr>
            <a:r>
              <a:rPr lang="en-US" sz="8747" b="1" spc="-472">
                <a:solidFill>
                  <a:srgbClr val="1C21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MANAGING CROSS-CULTURAL VIRTUAL COLLABORATION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42895" y="6680587"/>
            <a:ext cx="7602210" cy="482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5"/>
              </a:lnSpc>
            </a:pPr>
            <a:r>
              <a:rPr lang="en-US" sz="3445" spc="-68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PRESENTED BY ADITYA &amp; ADITYA RAJ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81125" y="4879469"/>
            <a:ext cx="13868399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800" b="1" dirty="0">
                <a:solidFill>
                  <a:srgbClr val="73737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Understanding time management and collaboration issues in global teams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543800" y="1861940"/>
            <a:ext cx="9448800" cy="1325796"/>
            <a:chOff x="0" y="0"/>
            <a:chExt cx="1276137" cy="1534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76137" cy="153435"/>
            </a:xfrm>
            <a:custGeom>
              <a:avLst/>
              <a:gdLst/>
              <a:ahLst/>
              <a:cxnLst/>
              <a:rect l="l" t="t" r="r" b="b"/>
              <a:pathLst>
                <a:path w="1276137" h="153435">
                  <a:moveTo>
                    <a:pt x="76718" y="0"/>
                  </a:moveTo>
                  <a:lnTo>
                    <a:pt x="1199420" y="0"/>
                  </a:lnTo>
                  <a:cubicBezTo>
                    <a:pt x="1219767" y="0"/>
                    <a:pt x="1239280" y="8083"/>
                    <a:pt x="1253667" y="22470"/>
                  </a:cubicBezTo>
                  <a:cubicBezTo>
                    <a:pt x="1268055" y="36857"/>
                    <a:pt x="1276137" y="56371"/>
                    <a:pt x="1276137" y="76718"/>
                  </a:cubicBezTo>
                  <a:lnTo>
                    <a:pt x="1276137" y="76718"/>
                  </a:lnTo>
                  <a:cubicBezTo>
                    <a:pt x="1276137" y="97064"/>
                    <a:pt x="1268055" y="116578"/>
                    <a:pt x="1253667" y="130965"/>
                  </a:cubicBezTo>
                  <a:cubicBezTo>
                    <a:pt x="1239280" y="145353"/>
                    <a:pt x="1219767" y="153435"/>
                    <a:pt x="1199420" y="153435"/>
                  </a:cubicBezTo>
                  <a:lnTo>
                    <a:pt x="76718" y="153435"/>
                  </a:lnTo>
                  <a:cubicBezTo>
                    <a:pt x="56371" y="153435"/>
                    <a:pt x="36857" y="145353"/>
                    <a:pt x="22470" y="130965"/>
                  </a:cubicBezTo>
                  <a:cubicBezTo>
                    <a:pt x="8083" y="116578"/>
                    <a:pt x="0" y="97064"/>
                    <a:pt x="0" y="76718"/>
                  </a:cubicBezTo>
                  <a:lnTo>
                    <a:pt x="0" y="76718"/>
                  </a:lnTo>
                  <a:cubicBezTo>
                    <a:pt x="0" y="56371"/>
                    <a:pt x="8083" y="36857"/>
                    <a:pt x="22470" y="22470"/>
                  </a:cubicBezTo>
                  <a:cubicBezTo>
                    <a:pt x="36857" y="8083"/>
                    <a:pt x="56371" y="0"/>
                    <a:pt x="76718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76137" cy="1915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595420" y="2134178"/>
            <a:ext cx="8011990" cy="1053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 dirty="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The problem?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ECB4BB-1857-B49F-31E0-DAFD251A76AA}"/>
              </a:ext>
            </a:extLst>
          </p:cNvPr>
          <p:cNvSpPr txBox="1"/>
          <p:nvPr/>
        </p:nvSpPr>
        <p:spPr>
          <a:xfrm>
            <a:off x="8229600" y="3609457"/>
            <a:ext cx="9448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DM Sans" pitchFamily="2" charset="0"/>
              </a:rPr>
              <a:t>Mismatch in meeting punctuality and expectations</a:t>
            </a:r>
          </a:p>
          <a:p>
            <a:endParaRPr lang="en-US" sz="3600" dirty="0">
              <a:latin typeface="DM Sans" pitchFamily="2" charset="0"/>
            </a:endParaRPr>
          </a:p>
          <a:p>
            <a:r>
              <a:rPr lang="en-US" sz="3600" dirty="0">
                <a:latin typeface="DM Sans" pitchFamily="2" charset="0"/>
              </a:rPr>
              <a:t>Leads to: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DM Sans" pitchFamily="2" charset="0"/>
              </a:rPr>
              <a:t>Wasted meeting time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DM Sans" pitchFamily="2" charset="0"/>
              </a:rPr>
              <a:t>Miscommunication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DM Sans" pitchFamily="2" charset="0"/>
              </a:rPr>
              <a:t>Lower productivity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DM Sans" pitchFamily="2" charset="0"/>
              </a:rPr>
              <a:t>Bad working relationships</a:t>
            </a:r>
            <a:endParaRPr lang="en-IN" sz="3600" dirty="0">
              <a:latin typeface="DM Sans" pitchFamily="2" charset="0"/>
            </a:endParaRPr>
          </a:p>
        </p:txBody>
      </p:sp>
      <p:sp>
        <p:nvSpPr>
          <p:cNvPr id="23" name="Freeform 2">
            <a:extLst>
              <a:ext uri="{FF2B5EF4-FFF2-40B4-BE49-F238E27FC236}">
                <a16:creationId xmlns:a16="http://schemas.microsoft.com/office/drawing/2014/main" id="{19E9D7A8-7644-6C08-F3C9-BBF1BDA25953}"/>
              </a:ext>
            </a:extLst>
          </p:cNvPr>
          <p:cNvSpPr/>
          <p:nvPr/>
        </p:nvSpPr>
        <p:spPr>
          <a:xfrm>
            <a:off x="0" y="0"/>
            <a:ext cx="7276083" cy="11057957"/>
          </a:xfrm>
          <a:custGeom>
            <a:avLst/>
            <a:gdLst/>
            <a:ahLst/>
            <a:cxnLst/>
            <a:rect l="l" t="t" r="r" b="b"/>
            <a:pathLst>
              <a:path w="7097803" h="11057957">
                <a:moveTo>
                  <a:pt x="0" y="0"/>
                </a:moveTo>
                <a:lnTo>
                  <a:pt x="7097803" y="0"/>
                </a:lnTo>
                <a:lnTo>
                  <a:pt x="7097803" y="11057957"/>
                </a:lnTo>
                <a:lnTo>
                  <a:pt x="0" y="110579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1569" r="-2267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-79813" y="0"/>
            <a:ext cx="7355896" cy="10601584"/>
            <a:chOff x="0" y="0"/>
            <a:chExt cx="1963290" cy="27921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63290" cy="2792187"/>
            </a:xfrm>
            <a:custGeom>
              <a:avLst/>
              <a:gdLst/>
              <a:ahLst/>
              <a:cxnLst/>
              <a:rect l="l" t="t" r="r" b="b"/>
              <a:pathLst>
                <a:path w="1963290" h="2792187">
                  <a:moveTo>
                    <a:pt x="0" y="0"/>
                  </a:moveTo>
                  <a:lnTo>
                    <a:pt x="1963290" y="0"/>
                  </a:lnTo>
                  <a:lnTo>
                    <a:pt x="1963290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963290" cy="2830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6DE46E7-4A6D-C7A7-D7A5-BDD886059CBC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5913785" cy="3084566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B91A3409-E70E-32E8-52F3-2CEF12AE8680}"/>
                </a:ext>
              </a:extLst>
            </p:cNvPr>
            <p:cNvSpPr/>
            <p:nvPr/>
          </p:nvSpPr>
          <p:spPr>
            <a:xfrm>
              <a:off x="0" y="0"/>
              <a:ext cx="5913785" cy="3084567"/>
            </a:xfrm>
            <a:custGeom>
              <a:avLst/>
              <a:gdLst/>
              <a:ahLst/>
              <a:cxnLst/>
              <a:rect l="l" t="t" r="r" b="b"/>
              <a:pathLst>
                <a:path w="5913785" h="3084567">
                  <a:moveTo>
                    <a:pt x="0" y="0"/>
                  </a:moveTo>
                  <a:lnTo>
                    <a:pt x="5913785" y="0"/>
                  </a:lnTo>
                  <a:lnTo>
                    <a:pt x="5913785" y="3084567"/>
                  </a:lnTo>
                  <a:lnTo>
                    <a:pt x="0" y="3084567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17A3550-F38D-8E91-809E-0130E0D6132E}"/>
                </a:ext>
              </a:extLst>
            </p:cNvPr>
            <p:cNvSpPr txBox="1"/>
            <p:nvPr/>
          </p:nvSpPr>
          <p:spPr>
            <a:xfrm>
              <a:off x="0" y="-57150"/>
              <a:ext cx="5913785" cy="31417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379FEB8-0EBB-EE54-55E9-AA632667F4BA}"/>
              </a:ext>
            </a:extLst>
          </p:cNvPr>
          <p:cNvSpPr txBox="1"/>
          <p:nvPr/>
        </p:nvSpPr>
        <p:spPr>
          <a:xfrm>
            <a:off x="1905000" y="1790700"/>
            <a:ext cx="15163800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900" dirty="0">
                <a:latin typeface="Poppins Bold" panose="020B0604020202020204" charset="0"/>
                <a:cs typeface="Poppins Bold" panose="020B0604020202020204" charset="0"/>
              </a:rPr>
              <a:t>Why the problem??</a:t>
            </a:r>
            <a:endParaRPr lang="en-IN" sz="19900" dirty="0">
              <a:latin typeface="Poppins Bold" panose="020B0604020202020204" charset="0"/>
              <a:cs typeface="Poppins Bol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7550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52BF0734-3CF9-56F7-A35C-9A58357F992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2013892" h="12354774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467" b="-9467"/>
            </a:stretch>
          </a:blipFill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958587-CC63-E2A0-7E59-ED95E6E7DE85}"/>
              </a:ext>
            </a:extLst>
          </p:cNvPr>
          <p:cNvSpPr txBox="1"/>
          <p:nvPr/>
        </p:nvSpPr>
        <p:spPr>
          <a:xfrm>
            <a:off x="3686175" y="1142363"/>
            <a:ext cx="109156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Poppins Bold" panose="020B0604020202020204" charset="0"/>
                <a:cs typeface="Poppins Bold" panose="020B0604020202020204" charset="0"/>
              </a:rPr>
              <a:t>1. Cultural time orientation</a:t>
            </a:r>
            <a:endParaRPr lang="en-IN" sz="6000" dirty="0">
              <a:latin typeface="Poppins Bold" panose="020B0604020202020204" charset="0"/>
              <a:cs typeface="Poppins Bold" panose="020B0604020202020204" charset="0"/>
            </a:endParaRPr>
          </a:p>
        </p:txBody>
      </p:sp>
      <p:sp>
        <p:nvSpPr>
          <p:cNvPr id="8" name="AutoShape 23">
            <a:extLst>
              <a:ext uri="{FF2B5EF4-FFF2-40B4-BE49-F238E27FC236}">
                <a16:creationId xmlns:a16="http://schemas.microsoft.com/office/drawing/2014/main" id="{5110F6C6-13DB-B7EB-6B79-98B0860ECA90}"/>
              </a:ext>
            </a:extLst>
          </p:cNvPr>
          <p:cNvSpPr/>
          <p:nvPr/>
        </p:nvSpPr>
        <p:spPr>
          <a:xfrm flipV="1">
            <a:off x="504000" y="2628900"/>
            <a:ext cx="17280000" cy="0"/>
          </a:xfrm>
          <a:prstGeom prst="line">
            <a:avLst/>
          </a:prstGeom>
          <a:ln>
            <a:headEnd type="none" w="sm" len="sm"/>
            <a:tailEnd type="none" w="sm" len="sm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B7C634-0695-2F2E-AA97-13FCEA358B76}"/>
              </a:ext>
            </a:extLst>
          </p:cNvPr>
          <p:cNvCxnSpPr>
            <a:cxnSpLocks/>
          </p:cNvCxnSpPr>
          <p:nvPr/>
        </p:nvCxnSpPr>
        <p:spPr>
          <a:xfrm flipH="1">
            <a:off x="9144000" y="3924300"/>
            <a:ext cx="0" cy="4500000"/>
          </a:xfrm>
          <a:prstGeom prst="line">
            <a:avLst/>
          </a:prstGeom>
          <a:ln/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TextBox 5">
            <a:extLst>
              <a:ext uri="{FF2B5EF4-FFF2-40B4-BE49-F238E27FC236}">
                <a16:creationId xmlns:a16="http://schemas.microsoft.com/office/drawing/2014/main" id="{958CE1A2-6EB4-FAEF-CA5A-29B2DBA0699D}"/>
              </a:ext>
            </a:extLst>
          </p:cNvPr>
          <p:cNvSpPr txBox="1"/>
          <p:nvPr/>
        </p:nvSpPr>
        <p:spPr>
          <a:xfrm>
            <a:off x="0" y="-190596"/>
            <a:ext cx="18288000" cy="104775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079"/>
              </a:lnSpc>
            </a:pPr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3A69A74-3E8B-DAD1-5EF8-588B441A1768}"/>
              </a:ext>
            </a:extLst>
          </p:cNvPr>
          <p:cNvSpPr txBox="1"/>
          <p:nvPr/>
        </p:nvSpPr>
        <p:spPr>
          <a:xfrm>
            <a:off x="18525781" y="1142362"/>
            <a:ext cx="9944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Poppins Bold" panose="020B0604020202020204" charset="0"/>
                <a:cs typeface="Poppins Bold" panose="020B0604020202020204" charset="0"/>
              </a:rPr>
              <a:t>2. Work Style Differences</a:t>
            </a:r>
            <a:endParaRPr lang="en-IN" sz="6000" dirty="0">
              <a:latin typeface="Poppins Bold" panose="020B0604020202020204" charset="0"/>
              <a:cs typeface="Poppins Bold" panose="020B0604020202020204" charset="0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EEC7FB7E-B951-1663-7F8D-E822362E2875}"/>
              </a:ext>
            </a:extLst>
          </p:cNvPr>
          <p:cNvGrpSpPr/>
          <p:nvPr/>
        </p:nvGrpSpPr>
        <p:grpSpPr>
          <a:xfrm>
            <a:off x="18510541" y="4061882"/>
            <a:ext cx="15316200" cy="4802400"/>
            <a:chOff x="1485900" y="3774001"/>
            <a:chExt cx="15316200" cy="4802400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B2C83CCA-587F-415C-0AD6-978C0B3B322E}"/>
                </a:ext>
              </a:extLst>
            </p:cNvPr>
            <p:cNvGrpSpPr/>
            <p:nvPr/>
          </p:nvGrpSpPr>
          <p:grpSpPr>
            <a:xfrm>
              <a:off x="1485900" y="3774001"/>
              <a:ext cx="15316200" cy="4802400"/>
              <a:chOff x="1485900" y="3774001"/>
              <a:chExt cx="15316200" cy="4800598"/>
            </a:xfrm>
          </p:grpSpPr>
          <p:grpSp>
            <p:nvGrpSpPr>
              <p:cNvPr id="78" name="Group 8">
                <a:extLst>
                  <a:ext uri="{FF2B5EF4-FFF2-40B4-BE49-F238E27FC236}">
                    <a16:creationId xmlns:a16="http://schemas.microsoft.com/office/drawing/2014/main" id="{C95194D3-8527-088C-0ABE-51B7AB25D1AE}"/>
                  </a:ext>
                </a:extLst>
              </p:cNvPr>
              <p:cNvGrpSpPr/>
              <p:nvPr/>
            </p:nvGrpSpPr>
            <p:grpSpPr>
              <a:xfrm>
                <a:off x="1485900" y="3774001"/>
                <a:ext cx="15316200" cy="4800598"/>
                <a:chOff x="0" y="0"/>
                <a:chExt cx="2286638" cy="712528"/>
              </a:xfrm>
            </p:grpSpPr>
            <p:sp>
              <p:nvSpPr>
                <p:cNvPr id="85" name="Freeform 9">
                  <a:extLst>
                    <a:ext uri="{FF2B5EF4-FFF2-40B4-BE49-F238E27FC236}">
                      <a16:creationId xmlns:a16="http://schemas.microsoft.com/office/drawing/2014/main" id="{D66E2378-7337-3C93-569A-4F4748024931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286638" cy="712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638" h="712528">
                      <a:moveTo>
                        <a:pt x="56670" y="0"/>
                      </a:moveTo>
                      <a:lnTo>
                        <a:pt x="2229968" y="0"/>
                      </a:lnTo>
                      <a:cubicBezTo>
                        <a:pt x="2261266" y="0"/>
                        <a:pt x="2286638" y="25372"/>
                        <a:pt x="2286638" y="56670"/>
                      </a:cubicBezTo>
                      <a:lnTo>
                        <a:pt x="2286638" y="655858"/>
                      </a:lnTo>
                      <a:cubicBezTo>
                        <a:pt x="2286638" y="670888"/>
                        <a:pt x="2280667" y="685302"/>
                        <a:pt x="2270040" y="695930"/>
                      </a:cubicBezTo>
                      <a:cubicBezTo>
                        <a:pt x="2259412" y="706557"/>
                        <a:pt x="2244998" y="712528"/>
                        <a:pt x="2229968" y="712528"/>
                      </a:cubicBezTo>
                      <a:lnTo>
                        <a:pt x="56670" y="712528"/>
                      </a:lnTo>
                      <a:cubicBezTo>
                        <a:pt x="25372" y="712528"/>
                        <a:pt x="0" y="687156"/>
                        <a:pt x="0" y="655858"/>
                      </a:cubicBezTo>
                      <a:lnTo>
                        <a:pt x="0" y="56670"/>
                      </a:lnTo>
                      <a:cubicBezTo>
                        <a:pt x="0" y="41640"/>
                        <a:pt x="5971" y="27226"/>
                        <a:pt x="16598" y="16598"/>
                      </a:cubicBezTo>
                      <a:cubicBezTo>
                        <a:pt x="27226" y="5971"/>
                        <a:pt x="41640" y="0"/>
                        <a:pt x="56670" y="0"/>
                      </a:cubicBezTo>
                      <a:close/>
                    </a:path>
                  </a:pathLst>
                </a:custGeom>
                <a:solidFill>
                  <a:srgbClr val="AAD7D4"/>
                </a:solidFill>
              </p:spPr>
            </p:sp>
            <p:sp>
              <p:nvSpPr>
                <p:cNvPr id="86" name="TextBox 10">
                  <a:extLst>
                    <a:ext uri="{FF2B5EF4-FFF2-40B4-BE49-F238E27FC236}">
                      <a16:creationId xmlns:a16="http://schemas.microsoft.com/office/drawing/2014/main" id="{5EADC31D-DB61-635C-919C-306355304722}"/>
                    </a:ext>
                  </a:extLst>
                </p:cNvPr>
                <p:cNvSpPr txBox="1"/>
                <p:nvPr/>
              </p:nvSpPr>
              <p:spPr>
                <a:xfrm>
                  <a:off x="0" y="85725"/>
                  <a:ext cx="2286638" cy="62680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1925"/>
                    </a:lnSpc>
                  </a:pPr>
                  <a:endParaRPr/>
                </a:p>
              </p:txBody>
            </p:sp>
          </p:grp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9DF9FFD6-1612-8560-0146-B6F59FE0F594}"/>
                  </a:ext>
                </a:extLst>
              </p:cNvPr>
              <p:cNvSpPr txBox="1"/>
              <p:nvPr/>
            </p:nvSpPr>
            <p:spPr>
              <a:xfrm>
                <a:off x="1885951" y="5777400"/>
                <a:ext cx="685799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/>
                  <a:t>Tasks and deadlines</a:t>
                </a:r>
              </a:p>
              <a:p>
                <a:pPr algn="ctr"/>
                <a:r>
                  <a:rPr lang="en-US" sz="3600" dirty="0"/>
                  <a:t>Focused</a:t>
                </a: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AC29289B-7696-F21C-AF9B-7A32572F69B3}"/>
                  </a:ext>
                </a:extLst>
              </p:cNvPr>
              <p:cNvSpPr txBox="1"/>
              <p:nvPr/>
            </p:nvSpPr>
            <p:spPr>
              <a:xfrm>
                <a:off x="9596439" y="5777399"/>
                <a:ext cx="685800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/>
                  <a:t>Relationships</a:t>
                </a:r>
              </a:p>
              <a:p>
                <a:pPr algn="ctr"/>
                <a:r>
                  <a:rPr lang="en-US" sz="3600" dirty="0"/>
                  <a:t>Focused</a:t>
                </a:r>
              </a:p>
            </p:txBody>
          </p:sp>
          <p:sp>
            <p:nvSpPr>
              <p:cNvPr id="81" name="Flowchart: Terminator 80">
                <a:extLst>
                  <a:ext uri="{FF2B5EF4-FFF2-40B4-BE49-F238E27FC236}">
                    <a16:creationId xmlns:a16="http://schemas.microsoft.com/office/drawing/2014/main" id="{96FC5C02-848A-751B-5639-B033CB92E92D}"/>
                  </a:ext>
                </a:extLst>
              </p:cNvPr>
              <p:cNvSpPr/>
              <p:nvPr/>
            </p:nvSpPr>
            <p:spPr>
              <a:xfrm>
                <a:off x="1938339" y="4014416"/>
                <a:ext cx="6753223" cy="1449901"/>
              </a:xfrm>
              <a:prstGeom prst="flowChartTerminator">
                <a:avLst/>
              </a:prstGeom>
              <a:solidFill>
                <a:schemeClr val="bg1"/>
              </a:solidFill>
              <a:ln>
                <a:solidFill>
                  <a:srgbClr val="AAD7D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07A67EA-0461-B861-E458-5E940D017031}"/>
                  </a:ext>
                </a:extLst>
              </p:cNvPr>
              <p:cNvSpPr txBox="1"/>
              <p:nvPr/>
            </p:nvSpPr>
            <p:spPr>
              <a:xfrm>
                <a:off x="2130400" y="4292972"/>
                <a:ext cx="633862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800" dirty="0">
                    <a:latin typeface="DM Sans" pitchFamily="2" charset="0"/>
                  </a:rPr>
                  <a:t>U.S. Teams</a:t>
                </a:r>
                <a:endParaRPr lang="en-IN" sz="4800" dirty="0">
                  <a:latin typeface="DM Sans" pitchFamily="2" charset="0"/>
                </a:endParaRPr>
              </a:p>
            </p:txBody>
          </p:sp>
          <p:sp>
            <p:nvSpPr>
              <p:cNvPr id="83" name="Flowchart: Terminator 82">
                <a:extLst>
                  <a:ext uri="{FF2B5EF4-FFF2-40B4-BE49-F238E27FC236}">
                    <a16:creationId xmlns:a16="http://schemas.microsoft.com/office/drawing/2014/main" id="{43359ED0-C3A0-D444-38CF-586EC1DE1ECC}"/>
                  </a:ext>
                </a:extLst>
              </p:cNvPr>
              <p:cNvSpPr/>
              <p:nvPr/>
            </p:nvSpPr>
            <p:spPr>
              <a:xfrm>
                <a:off x="9596439" y="4000383"/>
                <a:ext cx="6753223" cy="1449901"/>
              </a:xfrm>
              <a:prstGeom prst="flowChartTerminator">
                <a:avLst/>
              </a:prstGeom>
              <a:solidFill>
                <a:schemeClr val="bg1"/>
              </a:solidFill>
              <a:ln>
                <a:solidFill>
                  <a:srgbClr val="AAD7D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48EB4487-F026-B0B2-3501-BF619A162ABA}"/>
                  </a:ext>
                </a:extLst>
              </p:cNvPr>
              <p:cNvSpPr txBox="1"/>
              <p:nvPr/>
            </p:nvSpPr>
            <p:spPr>
              <a:xfrm>
                <a:off x="9818980" y="3954536"/>
                <a:ext cx="633862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800" dirty="0">
                    <a:latin typeface="DM Sans" pitchFamily="2" charset="0"/>
                  </a:rPr>
                  <a:t>Middle Eastern Teams</a:t>
                </a:r>
                <a:endParaRPr lang="en-IN" sz="4800" dirty="0">
                  <a:latin typeface="DM Sans" pitchFamily="2" charset="0"/>
                </a:endParaRPr>
              </a:p>
            </p:txBody>
          </p:sp>
        </p:grp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8ADBCAAD-AB15-7E45-DBA1-6ACEB716C2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44000" y="3924356"/>
              <a:ext cx="0" cy="4501689"/>
            </a:xfrm>
            <a:prstGeom prst="line">
              <a:avLst/>
            </a:prstGeom>
            <a:ln/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5D63577F-EB42-F572-FB9E-9F9C1D6AA48B}"/>
              </a:ext>
            </a:extLst>
          </p:cNvPr>
          <p:cNvGrpSpPr/>
          <p:nvPr/>
        </p:nvGrpSpPr>
        <p:grpSpPr>
          <a:xfrm>
            <a:off x="1485900" y="3774001"/>
            <a:ext cx="15420978" cy="4800598"/>
            <a:chOff x="1485900" y="3774001"/>
            <a:chExt cx="15420978" cy="4800598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40493B36-6D07-049A-E981-B8AAD8076DF7}"/>
                </a:ext>
              </a:extLst>
            </p:cNvPr>
            <p:cNvGrpSpPr/>
            <p:nvPr/>
          </p:nvGrpSpPr>
          <p:grpSpPr>
            <a:xfrm>
              <a:off x="1485900" y="3774001"/>
              <a:ext cx="15420978" cy="4800598"/>
              <a:chOff x="1485900" y="3774001"/>
              <a:chExt cx="15420978" cy="4800598"/>
            </a:xfrm>
          </p:grpSpPr>
          <p:grpSp>
            <p:nvGrpSpPr>
              <p:cNvPr id="3" name="Group 8">
                <a:extLst>
                  <a:ext uri="{FF2B5EF4-FFF2-40B4-BE49-F238E27FC236}">
                    <a16:creationId xmlns:a16="http://schemas.microsoft.com/office/drawing/2014/main" id="{B1178A47-8B4F-2CFA-5092-F64846A7C3FB}"/>
                  </a:ext>
                </a:extLst>
              </p:cNvPr>
              <p:cNvGrpSpPr/>
              <p:nvPr/>
            </p:nvGrpSpPr>
            <p:grpSpPr>
              <a:xfrm>
                <a:off x="1485900" y="3774001"/>
                <a:ext cx="15316200" cy="4800598"/>
                <a:chOff x="0" y="0"/>
                <a:chExt cx="2286638" cy="712528"/>
              </a:xfrm>
            </p:grpSpPr>
            <p:sp>
              <p:nvSpPr>
                <p:cNvPr id="4" name="Freeform 9">
                  <a:extLst>
                    <a:ext uri="{FF2B5EF4-FFF2-40B4-BE49-F238E27FC236}">
                      <a16:creationId xmlns:a16="http://schemas.microsoft.com/office/drawing/2014/main" id="{93B8A54F-043A-5370-D22F-017BFE089A9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286638" cy="712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638" h="712528">
                      <a:moveTo>
                        <a:pt x="56670" y="0"/>
                      </a:moveTo>
                      <a:lnTo>
                        <a:pt x="2229968" y="0"/>
                      </a:lnTo>
                      <a:cubicBezTo>
                        <a:pt x="2261266" y="0"/>
                        <a:pt x="2286638" y="25372"/>
                        <a:pt x="2286638" y="56670"/>
                      </a:cubicBezTo>
                      <a:lnTo>
                        <a:pt x="2286638" y="655858"/>
                      </a:lnTo>
                      <a:cubicBezTo>
                        <a:pt x="2286638" y="670888"/>
                        <a:pt x="2280667" y="685302"/>
                        <a:pt x="2270040" y="695930"/>
                      </a:cubicBezTo>
                      <a:cubicBezTo>
                        <a:pt x="2259412" y="706557"/>
                        <a:pt x="2244998" y="712528"/>
                        <a:pt x="2229968" y="712528"/>
                      </a:cubicBezTo>
                      <a:lnTo>
                        <a:pt x="56670" y="712528"/>
                      </a:lnTo>
                      <a:cubicBezTo>
                        <a:pt x="25372" y="712528"/>
                        <a:pt x="0" y="687156"/>
                        <a:pt x="0" y="655858"/>
                      </a:cubicBezTo>
                      <a:lnTo>
                        <a:pt x="0" y="56670"/>
                      </a:lnTo>
                      <a:cubicBezTo>
                        <a:pt x="0" y="41640"/>
                        <a:pt x="5971" y="27226"/>
                        <a:pt x="16598" y="16598"/>
                      </a:cubicBezTo>
                      <a:cubicBezTo>
                        <a:pt x="27226" y="5971"/>
                        <a:pt x="41640" y="0"/>
                        <a:pt x="56670" y="0"/>
                      </a:cubicBezTo>
                      <a:close/>
                    </a:path>
                  </a:pathLst>
                </a:custGeom>
                <a:solidFill>
                  <a:srgbClr val="AAD7D4"/>
                </a:solidFill>
              </p:spPr>
            </p:sp>
            <p:sp>
              <p:nvSpPr>
                <p:cNvPr id="5" name="TextBox 10">
                  <a:extLst>
                    <a:ext uri="{FF2B5EF4-FFF2-40B4-BE49-F238E27FC236}">
                      <a16:creationId xmlns:a16="http://schemas.microsoft.com/office/drawing/2014/main" id="{D59EE16A-C78C-D905-C209-AF051CB293F9}"/>
                    </a:ext>
                  </a:extLst>
                </p:cNvPr>
                <p:cNvSpPr txBox="1"/>
                <p:nvPr/>
              </p:nvSpPr>
              <p:spPr>
                <a:xfrm>
                  <a:off x="0" y="85725"/>
                  <a:ext cx="2286638" cy="62680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1925"/>
                    </a:lnSpc>
                  </a:pPr>
                  <a:endParaRPr/>
                </a:p>
              </p:txBody>
            </p:sp>
          </p:grp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429697F-0D15-AAF5-3748-D24B2EE48A00}"/>
                  </a:ext>
                </a:extLst>
              </p:cNvPr>
              <p:cNvSpPr txBox="1"/>
              <p:nvPr/>
            </p:nvSpPr>
            <p:spPr>
              <a:xfrm>
                <a:off x="2390779" y="5753100"/>
                <a:ext cx="6857998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Monochronic culture</a:t>
                </a:r>
                <a:r>
                  <a:rPr lang="en-IN" sz="3600" dirty="0"/>
                  <a:t>, focuses on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3600" dirty="0"/>
                  <a:t>Schedule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3600" dirty="0"/>
                  <a:t>Deadlines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3600" dirty="0"/>
                  <a:t>Punctuality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AC2FE48-5CC5-386C-268E-3901C1BD86DB}"/>
                  </a:ext>
                </a:extLst>
              </p:cNvPr>
              <p:cNvSpPr txBox="1"/>
              <p:nvPr/>
            </p:nvSpPr>
            <p:spPr>
              <a:xfrm>
                <a:off x="10048877" y="5753100"/>
                <a:ext cx="6858001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Polychronic culture</a:t>
                </a:r>
                <a:r>
                  <a:rPr lang="en-IN" sz="3600" dirty="0"/>
                  <a:t>, focuses on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3600" dirty="0"/>
                  <a:t>Flexibility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3600" dirty="0"/>
                  <a:t>Relationships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3600" dirty="0"/>
                  <a:t>Familial relations</a:t>
                </a:r>
                <a:endParaRPr lang="en-US" sz="3600" dirty="0"/>
              </a:p>
            </p:txBody>
          </p:sp>
          <p:sp>
            <p:nvSpPr>
              <p:cNvPr id="21" name="Flowchart: Terminator 20">
                <a:extLst>
                  <a:ext uri="{FF2B5EF4-FFF2-40B4-BE49-F238E27FC236}">
                    <a16:creationId xmlns:a16="http://schemas.microsoft.com/office/drawing/2014/main" id="{1C65968A-E12F-7D2E-CE20-0BA2BB7508EB}"/>
                  </a:ext>
                </a:extLst>
              </p:cNvPr>
              <p:cNvSpPr/>
              <p:nvPr/>
            </p:nvSpPr>
            <p:spPr>
              <a:xfrm>
                <a:off x="1938339" y="4014416"/>
                <a:ext cx="6753223" cy="1449901"/>
              </a:xfrm>
              <a:prstGeom prst="flowChartTerminator">
                <a:avLst/>
              </a:prstGeom>
              <a:solidFill>
                <a:schemeClr val="bg1"/>
              </a:solidFill>
              <a:ln>
                <a:solidFill>
                  <a:srgbClr val="AAD7D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73ADE24-06B0-E110-4F67-EE10061DD066}"/>
                  </a:ext>
                </a:extLst>
              </p:cNvPr>
              <p:cNvSpPr txBox="1"/>
              <p:nvPr/>
            </p:nvSpPr>
            <p:spPr>
              <a:xfrm>
                <a:off x="2130400" y="4292972"/>
                <a:ext cx="633862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800" dirty="0">
                    <a:latin typeface="DM Sans" pitchFamily="2" charset="0"/>
                  </a:rPr>
                  <a:t>U.S. Teams</a:t>
                </a:r>
                <a:endParaRPr lang="en-IN" sz="4800" dirty="0">
                  <a:latin typeface="DM Sans" pitchFamily="2" charset="0"/>
                </a:endParaRPr>
              </a:p>
            </p:txBody>
          </p:sp>
          <p:sp>
            <p:nvSpPr>
              <p:cNvPr id="32" name="Flowchart: Terminator 31">
                <a:extLst>
                  <a:ext uri="{FF2B5EF4-FFF2-40B4-BE49-F238E27FC236}">
                    <a16:creationId xmlns:a16="http://schemas.microsoft.com/office/drawing/2014/main" id="{EBC6BBFA-17DC-08B6-D5C1-B7DFA94F5355}"/>
                  </a:ext>
                </a:extLst>
              </p:cNvPr>
              <p:cNvSpPr/>
              <p:nvPr/>
            </p:nvSpPr>
            <p:spPr>
              <a:xfrm>
                <a:off x="9596439" y="4000383"/>
                <a:ext cx="6753223" cy="1449901"/>
              </a:xfrm>
              <a:prstGeom prst="flowChartTerminator">
                <a:avLst/>
              </a:prstGeom>
              <a:solidFill>
                <a:schemeClr val="bg1"/>
              </a:solidFill>
              <a:ln>
                <a:solidFill>
                  <a:srgbClr val="AAD7D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53716DD-23D5-3082-15B5-B3F8A8EB3C52}"/>
                  </a:ext>
                </a:extLst>
              </p:cNvPr>
              <p:cNvSpPr txBox="1"/>
              <p:nvPr/>
            </p:nvSpPr>
            <p:spPr>
              <a:xfrm>
                <a:off x="9818980" y="3954536"/>
                <a:ext cx="633862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800" dirty="0">
                    <a:latin typeface="DM Sans" pitchFamily="2" charset="0"/>
                  </a:rPr>
                  <a:t>Middle Eastern Teams</a:t>
                </a:r>
                <a:endParaRPr lang="en-IN" sz="4800" dirty="0">
                  <a:latin typeface="DM Sans" pitchFamily="2" charset="0"/>
                </a:endParaRPr>
              </a:p>
            </p:txBody>
          </p:sp>
        </p:grp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7D2EF109-5BEB-8F41-D0FF-C495F76C6A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44000" y="3898496"/>
              <a:ext cx="0" cy="4501689"/>
            </a:xfrm>
            <a:prstGeom prst="line">
              <a:avLst/>
            </a:prstGeom>
            <a:ln/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3" name="Oval 92">
            <a:extLst>
              <a:ext uri="{FF2B5EF4-FFF2-40B4-BE49-F238E27FC236}">
                <a16:creationId xmlns:a16="http://schemas.microsoft.com/office/drawing/2014/main" id="{D3A4E61D-7539-41BC-6A97-68BDB61D6117}"/>
              </a:ext>
            </a:extLst>
          </p:cNvPr>
          <p:cNvSpPr/>
          <p:nvPr/>
        </p:nvSpPr>
        <p:spPr>
          <a:xfrm>
            <a:off x="16004379" y="2400301"/>
            <a:ext cx="452439" cy="4571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A939C061-B81D-1EB1-47D4-C1663DA0B9AB}"/>
              </a:ext>
            </a:extLst>
          </p:cNvPr>
          <p:cNvSpPr/>
          <p:nvPr/>
        </p:nvSpPr>
        <p:spPr>
          <a:xfrm>
            <a:off x="8784000" y="2268899"/>
            <a:ext cx="720000" cy="72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93370BAB-73A6-4B45-581D-6E160EE4D3F1}"/>
              </a:ext>
            </a:extLst>
          </p:cNvPr>
          <p:cNvSpPr/>
          <p:nvPr/>
        </p:nvSpPr>
        <p:spPr>
          <a:xfrm>
            <a:off x="12458699" y="2379785"/>
            <a:ext cx="452439" cy="4571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43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8B348-7E2E-D9D0-949B-431715D3B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08DCA4A7-1CE5-1311-9A48-A3EA50D51A7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2013892" h="12354774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467" b="-9467"/>
            </a:stretch>
          </a:blipFill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BC93B1-27AF-ECA7-E3F2-4CB870625083}"/>
              </a:ext>
            </a:extLst>
          </p:cNvPr>
          <p:cNvSpPr txBox="1"/>
          <p:nvPr/>
        </p:nvSpPr>
        <p:spPr>
          <a:xfrm>
            <a:off x="4171950" y="1154379"/>
            <a:ext cx="9944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Poppins Bold" panose="020B0604020202020204" charset="0"/>
                <a:cs typeface="Poppins Bold" panose="020B0604020202020204" charset="0"/>
              </a:rPr>
              <a:t>2. Work Style Differences</a:t>
            </a:r>
            <a:endParaRPr lang="en-IN" sz="6000" dirty="0">
              <a:latin typeface="Poppins Bold" panose="020B0604020202020204" charset="0"/>
              <a:cs typeface="Poppins Bold" panose="020B0604020202020204" charset="0"/>
            </a:endParaRPr>
          </a:p>
        </p:txBody>
      </p:sp>
      <p:sp>
        <p:nvSpPr>
          <p:cNvPr id="8" name="AutoShape 23">
            <a:extLst>
              <a:ext uri="{FF2B5EF4-FFF2-40B4-BE49-F238E27FC236}">
                <a16:creationId xmlns:a16="http://schemas.microsoft.com/office/drawing/2014/main" id="{78DFE93E-BD93-CF4E-4C52-7D76F11C2467}"/>
              </a:ext>
            </a:extLst>
          </p:cNvPr>
          <p:cNvSpPr/>
          <p:nvPr/>
        </p:nvSpPr>
        <p:spPr>
          <a:xfrm flipV="1">
            <a:off x="504000" y="2628900"/>
            <a:ext cx="17280000" cy="0"/>
          </a:xfrm>
          <a:prstGeom prst="line">
            <a:avLst/>
          </a:prstGeom>
          <a:ln>
            <a:headEnd type="none" w="sm" len="sm"/>
            <a:tailEnd type="none" w="sm" len="sm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40" name="TextBox 5">
            <a:extLst>
              <a:ext uri="{FF2B5EF4-FFF2-40B4-BE49-F238E27FC236}">
                <a16:creationId xmlns:a16="http://schemas.microsoft.com/office/drawing/2014/main" id="{7FB2BAA4-E928-1877-BC36-BD2C3FCC61BC}"/>
              </a:ext>
            </a:extLst>
          </p:cNvPr>
          <p:cNvSpPr txBox="1"/>
          <p:nvPr/>
        </p:nvSpPr>
        <p:spPr>
          <a:xfrm>
            <a:off x="0" y="-190596"/>
            <a:ext cx="18288000" cy="104775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079"/>
              </a:lnSpc>
            </a:pPr>
            <a:endParaRPr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7238F94-8F4B-DF85-B789-BED7C9ECE0FF}"/>
              </a:ext>
            </a:extLst>
          </p:cNvPr>
          <p:cNvGrpSpPr/>
          <p:nvPr/>
        </p:nvGrpSpPr>
        <p:grpSpPr>
          <a:xfrm>
            <a:off x="1485900" y="3774001"/>
            <a:ext cx="15316200" cy="4802400"/>
            <a:chOff x="1485900" y="3774001"/>
            <a:chExt cx="15316200" cy="480240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711EFF2-8C93-AD83-8E12-4704418DB2FE}"/>
                </a:ext>
              </a:extLst>
            </p:cNvPr>
            <p:cNvGrpSpPr/>
            <p:nvPr/>
          </p:nvGrpSpPr>
          <p:grpSpPr>
            <a:xfrm>
              <a:off x="1485900" y="3774001"/>
              <a:ext cx="15316200" cy="4802400"/>
              <a:chOff x="1485900" y="3774001"/>
              <a:chExt cx="15316200" cy="4800598"/>
            </a:xfrm>
          </p:grpSpPr>
          <p:grpSp>
            <p:nvGrpSpPr>
              <p:cNvPr id="3" name="Group 8">
                <a:extLst>
                  <a:ext uri="{FF2B5EF4-FFF2-40B4-BE49-F238E27FC236}">
                    <a16:creationId xmlns:a16="http://schemas.microsoft.com/office/drawing/2014/main" id="{AA169C3F-80DB-FE93-0B43-939C9E9E9FF0}"/>
                  </a:ext>
                </a:extLst>
              </p:cNvPr>
              <p:cNvGrpSpPr/>
              <p:nvPr/>
            </p:nvGrpSpPr>
            <p:grpSpPr>
              <a:xfrm>
                <a:off x="1485900" y="3774001"/>
                <a:ext cx="15316200" cy="4800598"/>
                <a:chOff x="0" y="0"/>
                <a:chExt cx="2286638" cy="712528"/>
              </a:xfrm>
            </p:grpSpPr>
            <p:sp>
              <p:nvSpPr>
                <p:cNvPr id="4" name="Freeform 9">
                  <a:extLst>
                    <a:ext uri="{FF2B5EF4-FFF2-40B4-BE49-F238E27FC236}">
                      <a16:creationId xmlns:a16="http://schemas.microsoft.com/office/drawing/2014/main" id="{EA8DC587-02EC-45E1-A41A-F2B8AD83749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286638" cy="712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638" h="712528">
                      <a:moveTo>
                        <a:pt x="56670" y="0"/>
                      </a:moveTo>
                      <a:lnTo>
                        <a:pt x="2229968" y="0"/>
                      </a:lnTo>
                      <a:cubicBezTo>
                        <a:pt x="2261266" y="0"/>
                        <a:pt x="2286638" y="25372"/>
                        <a:pt x="2286638" y="56670"/>
                      </a:cubicBezTo>
                      <a:lnTo>
                        <a:pt x="2286638" y="655858"/>
                      </a:lnTo>
                      <a:cubicBezTo>
                        <a:pt x="2286638" y="670888"/>
                        <a:pt x="2280667" y="685302"/>
                        <a:pt x="2270040" y="695930"/>
                      </a:cubicBezTo>
                      <a:cubicBezTo>
                        <a:pt x="2259412" y="706557"/>
                        <a:pt x="2244998" y="712528"/>
                        <a:pt x="2229968" y="712528"/>
                      </a:cubicBezTo>
                      <a:lnTo>
                        <a:pt x="56670" y="712528"/>
                      </a:lnTo>
                      <a:cubicBezTo>
                        <a:pt x="25372" y="712528"/>
                        <a:pt x="0" y="687156"/>
                        <a:pt x="0" y="655858"/>
                      </a:cubicBezTo>
                      <a:lnTo>
                        <a:pt x="0" y="56670"/>
                      </a:lnTo>
                      <a:cubicBezTo>
                        <a:pt x="0" y="41640"/>
                        <a:pt x="5971" y="27226"/>
                        <a:pt x="16598" y="16598"/>
                      </a:cubicBezTo>
                      <a:cubicBezTo>
                        <a:pt x="27226" y="5971"/>
                        <a:pt x="41640" y="0"/>
                        <a:pt x="56670" y="0"/>
                      </a:cubicBezTo>
                      <a:close/>
                    </a:path>
                  </a:pathLst>
                </a:custGeom>
                <a:solidFill>
                  <a:srgbClr val="AAD7D4"/>
                </a:solidFill>
              </p:spPr>
            </p:sp>
            <p:sp>
              <p:nvSpPr>
                <p:cNvPr id="5" name="TextBox 10">
                  <a:extLst>
                    <a:ext uri="{FF2B5EF4-FFF2-40B4-BE49-F238E27FC236}">
                      <a16:creationId xmlns:a16="http://schemas.microsoft.com/office/drawing/2014/main" id="{E044797B-4D0B-ED3E-08AA-879C2C85F1A0}"/>
                    </a:ext>
                  </a:extLst>
                </p:cNvPr>
                <p:cNvSpPr txBox="1"/>
                <p:nvPr/>
              </p:nvSpPr>
              <p:spPr>
                <a:xfrm>
                  <a:off x="0" y="85725"/>
                  <a:ext cx="2286638" cy="62680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1925"/>
                    </a:lnSpc>
                  </a:pPr>
                  <a:endParaRPr/>
                </a:p>
              </p:txBody>
            </p:sp>
          </p:grp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F947112-A7E9-1D0C-98B7-43CA49976A64}"/>
                  </a:ext>
                </a:extLst>
              </p:cNvPr>
              <p:cNvSpPr txBox="1"/>
              <p:nvPr/>
            </p:nvSpPr>
            <p:spPr>
              <a:xfrm>
                <a:off x="1885951" y="5777400"/>
                <a:ext cx="685799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/>
                  <a:t>Tasks and deadlines</a:t>
                </a:r>
              </a:p>
              <a:p>
                <a:pPr algn="ctr"/>
                <a:r>
                  <a:rPr lang="en-US" sz="3600" dirty="0"/>
                  <a:t>Focused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A2D0731-75B0-21BA-E75F-B7A810624002}"/>
                  </a:ext>
                </a:extLst>
              </p:cNvPr>
              <p:cNvSpPr txBox="1"/>
              <p:nvPr/>
            </p:nvSpPr>
            <p:spPr>
              <a:xfrm>
                <a:off x="9596439" y="5777399"/>
                <a:ext cx="685800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/>
                  <a:t>Relationships</a:t>
                </a:r>
              </a:p>
              <a:p>
                <a:pPr algn="ctr"/>
                <a:r>
                  <a:rPr lang="en-US" sz="3600" dirty="0"/>
                  <a:t>Focused</a:t>
                </a:r>
              </a:p>
            </p:txBody>
          </p:sp>
          <p:sp>
            <p:nvSpPr>
              <p:cNvPr id="21" name="Flowchart: Terminator 20">
                <a:extLst>
                  <a:ext uri="{FF2B5EF4-FFF2-40B4-BE49-F238E27FC236}">
                    <a16:creationId xmlns:a16="http://schemas.microsoft.com/office/drawing/2014/main" id="{C4390ECF-4179-679F-DD0C-D5AB0463F34D}"/>
                  </a:ext>
                </a:extLst>
              </p:cNvPr>
              <p:cNvSpPr/>
              <p:nvPr/>
            </p:nvSpPr>
            <p:spPr>
              <a:xfrm>
                <a:off x="1938339" y="4014416"/>
                <a:ext cx="6753223" cy="1449901"/>
              </a:xfrm>
              <a:prstGeom prst="flowChartTerminator">
                <a:avLst/>
              </a:prstGeom>
              <a:solidFill>
                <a:schemeClr val="bg1"/>
              </a:solidFill>
              <a:ln>
                <a:solidFill>
                  <a:srgbClr val="AAD7D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2D753EA-4639-9BAF-0A56-2FAF9F4C3E3F}"/>
                  </a:ext>
                </a:extLst>
              </p:cNvPr>
              <p:cNvSpPr txBox="1"/>
              <p:nvPr/>
            </p:nvSpPr>
            <p:spPr>
              <a:xfrm>
                <a:off x="2130400" y="4292972"/>
                <a:ext cx="633862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800" dirty="0">
                    <a:latin typeface="DM Sans" pitchFamily="2" charset="0"/>
                  </a:rPr>
                  <a:t>U.S. Teams</a:t>
                </a:r>
                <a:endParaRPr lang="en-IN" sz="4800" dirty="0">
                  <a:latin typeface="DM Sans" pitchFamily="2" charset="0"/>
                </a:endParaRPr>
              </a:p>
            </p:txBody>
          </p:sp>
          <p:sp>
            <p:nvSpPr>
              <p:cNvPr id="32" name="Flowchart: Terminator 31">
                <a:extLst>
                  <a:ext uri="{FF2B5EF4-FFF2-40B4-BE49-F238E27FC236}">
                    <a16:creationId xmlns:a16="http://schemas.microsoft.com/office/drawing/2014/main" id="{AC070C84-8D93-AE7F-999B-C6D769CB55D3}"/>
                  </a:ext>
                </a:extLst>
              </p:cNvPr>
              <p:cNvSpPr/>
              <p:nvPr/>
            </p:nvSpPr>
            <p:spPr>
              <a:xfrm>
                <a:off x="9596439" y="4000383"/>
                <a:ext cx="6753223" cy="1449901"/>
              </a:xfrm>
              <a:prstGeom prst="flowChartTerminator">
                <a:avLst/>
              </a:prstGeom>
              <a:solidFill>
                <a:schemeClr val="bg1"/>
              </a:solidFill>
              <a:ln>
                <a:solidFill>
                  <a:srgbClr val="AAD7D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59076EA-76F9-4B9A-64DE-0EBFC55230AA}"/>
                  </a:ext>
                </a:extLst>
              </p:cNvPr>
              <p:cNvSpPr txBox="1"/>
              <p:nvPr/>
            </p:nvSpPr>
            <p:spPr>
              <a:xfrm>
                <a:off x="9818980" y="3954536"/>
                <a:ext cx="633862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800" dirty="0">
                    <a:latin typeface="DM Sans" pitchFamily="2" charset="0"/>
                  </a:rPr>
                  <a:t>Middle Eastern Teams</a:t>
                </a:r>
                <a:endParaRPr lang="en-IN" sz="4800" dirty="0">
                  <a:latin typeface="DM Sans" pitchFamily="2" charset="0"/>
                </a:endParaRPr>
              </a:p>
            </p:txBody>
          </p: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DD1D515-B714-366E-D7D0-CA56FB479B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44000" y="3924356"/>
              <a:ext cx="0" cy="4501689"/>
            </a:xfrm>
            <a:prstGeom prst="line">
              <a:avLst/>
            </a:prstGeom>
            <a:ln/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0407FCE-5F2A-535D-FBA5-911DE4C93358}"/>
              </a:ext>
            </a:extLst>
          </p:cNvPr>
          <p:cNvGrpSpPr/>
          <p:nvPr/>
        </p:nvGrpSpPr>
        <p:grpSpPr>
          <a:xfrm>
            <a:off x="-15658760" y="3924356"/>
            <a:ext cx="15420978" cy="4800598"/>
            <a:chOff x="1485900" y="3774001"/>
            <a:chExt cx="15420978" cy="480059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D215BAE-5FF3-320D-9A3D-0BB3ABE15272}"/>
                </a:ext>
              </a:extLst>
            </p:cNvPr>
            <p:cNvGrpSpPr/>
            <p:nvPr/>
          </p:nvGrpSpPr>
          <p:grpSpPr>
            <a:xfrm>
              <a:off x="1485900" y="3774001"/>
              <a:ext cx="15420978" cy="4800598"/>
              <a:chOff x="1485900" y="3774001"/>
              <a:chExt cx="15420978" cy="4800598"/>
            </a:xfrm>
          </p:grpSpPr>
          <p:grpSp>
            <p:nvGrpSpPr>
              <p:cNvPr id="26" name="Group 8">
                <a:extLst>
                  <a:ext uri="{FF2B5EF4-FFF2-40B4-BE49-F238E27FC236}">
                    <a16:creationId xmlns:a16="http://schemas.microsoft.com/office/drawing/2014/main" id="{9A54FC0C-CA12-20A6-D88A-819DF89AA31E}"/>
                  </a:ext>
                </a:extLst>
              </p:cNvPr>
              <p:cNvGrpSpPr/>
              <p:nvPr/>
            </p:nvGrpSpPr>
            <p:grpSpPr>
              <a:xfrm>
                <a:off x="1485900" y="3774001"/>
                <a:ext cx="15316200" cy="4800598"/>
                <a:chOff x="0" y="0"/>
                <a:chExt cx="2286638" cy="712528"/>
              </a:xfrm>
            </p:grpSpPr>
            <p:sp>
              <p:nvSpPr>
                <p:cNvPr id="35" name="Freeform 9">
                  <a:extLst>
                    <a:ext uri="{FF2B5EF4-FFF2-40B4-BE49-F238E27FC236}">
                      <a16:creationId xmlns:a16="http://schemas.microsoft.com/office/drawing/2014/main" id="{DC4CB68F-55B1-1E53-4557-9375CCB9C0E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286638" cy="712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638" h="712528">
                      <a:moveTo>
                        <a:pt x="56670" y="0"/>
                      </a:moveTo>
                      <a:lnTo>
                        <a:pt x="2229968" y="0"/>
                      </a:lnTo>
                      <a:cubicBezTo>
                        <a:pt x="2261266" y="0"/>
                        <a:pt x="2286638" y="25372"/>
                        <a:pt x="2286638" y="56670"/>
                      </a:cubicBezTo>
                      <a:lnTo>
                        <a:pt x="2286638" y="655858"/>
                      </a:lnTo>
                      <a:cubicBezTo>
                        <a:pt x="2286638" y="670888"/>
                        <a:pt x="2280667" y="685302"/>
                        <a:pt x="2270040" y="695930"/>
                      </a:cubicBezTo>
                      <a:cubicBezTo>
                        <a:pt x="2259412" y="706557"/>
                        <a:pt x="2244998" y="712528"/>
                        <a:pt x="2229968" y="712528"/>
                      </a:cubicBezTo>
                      <a:lnTo>
                        <a:pt x="56670" y="712528"/>
                      </a:lnTo>
                      <a:cubicBezTo>
                        <a:pt x="25372" y="712528"/>
                        <a:pt x="0" y="687156"/>
                        <a:pt x="0" y="655858"/>
                      </a:cubicBezTo>
                      <a:lnTo>
                        <a:pt x="0" y="56670"/>
                      </a:lnTo>
                      <a:cubicBezTo>
                        <a:pt x="0" y="41640"/>
                        <a:pt x="5971" y="27226"/>
                        <a:pt x="16598" y="16598"/>
                      </a:cubicBezTo>
                      <a:cubicBezTo>
                        <a:pt x="27226" y="5971"/>
                        <a:pt x="41640" y="0"/>
                        <a:pt x="56670" y="0"/>
                      </a:cubicBezTo>
                      <a:close/>
                    </a:path>
                  </a:pathLst>
                </a:custGeom>
                <a:solidFill>
                  <a:srgbClr val="AAD7D4"/>
                </a:solidFill>
              </p:spPr>
            </p:sp>
            <p:sp>
              <p:nvSpPr>
                <p:cNvPr id="36" name="TextBox 10">
                  <a:extLst>
                    <a:ext uri="{FF2B5EF4-FFF2-40B4-BE49-F238E27FC236}">
                      <a16:creationId xmlns:a16="http://schemas.microsoft.com/office/drawing/2014/main" id="{A150F15A-BD47-B8FE-E904-78D7C5F43EA6}"/>
                    </a:ext>
                  </a:extLst>
                </p:cNvPr>
                <p:cNvSpPr txBox="1"/>
                <p:nvPr/>
              </p:nvSpPr>
              <p:spPr>
                <a:xfrm>
                  <a:off x="0" y="85725"/>
                  <a:ext cx="2286638" cy="62680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1925"/>
                    </a:lnSpc>
                  </a:pPr>
                  <a:endParaRPr/>
                </a:p>
              </p:txBody>
            </p:sp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E846A98-8812-C8DE-40D7-9FA4460B392D}"/>
                  </a:ext>
                </a:extLst>
              </p:cNvPr>
              <p:cNvSpPr txBox="1"/>
              <p:nvPr/>
            </p:nvSpPr>
            <p:spPr>
              <a:xfrm>
                <a:off x="2390779" y="5753100"/>
                <a:ext cx="6857998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Monochronic culture</a:t>
                </a:r>
                <a:r>
                  <a:rPr lang="en-IN" sz="3600" dirty="0"/>
                  <a:t>, focuses on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3600" dirty="0"/>
                  <a:t>Schedule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3600" dirty="0"/>
                  <a:t>Deadlines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3600" dirty="0"/>
                  <a:t>Punctuality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494638D-5B1A-BFDB-751B-DCC76D4B78C3}"/>
                  </a:ext>
                </a:extLst>
              </p:cNvPr>
              <p:cNvSpPr txBox="1"/>
              <p:nvPr/>
            </p:nvSpPr>
            <p:spPr>
              <a:xfrm>
                <a:off x="10048877" y="5753100"/>
                <a:ext cx="6858001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Polychronic culture</a:t>
                </a:r>
                <a:r>
                  <a:rPr lang="en-IN" sz="3600" dirty="0"/>
                  <a:t>, focuses on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3600" dirty="0"/>
                  <a:t>Flexibility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3600" dirty="0"/>
                  <a:t>Relationships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3600" dirty="0"/>
                  <a:t>Familial relations</a:t>
                </a:r>
                <a:endParaRPr lang="en-US" sz="3600" dirty="0"/>
              </a:p>
            </p:txBody>
          </p:sp>
          <p:sp>
            <p:nvSpPr>
              <p:cNvPr id="29" name="Flowchart: Terminator 28">
                <a:extLst>
                  <a:ext uri="{FF2B5EF4-FFF2-40B4-BE49-F238E27FC236}">
                    <a16:creationId xmlns:a16="http://schemas.microsoft.com/office/drawing/2014/main" id="{17FBDF1F-2F74-A294-142D-20AAB5F9D1F7}"/>
                  </a:ext>
                </a:extLst>
              </p:cNvPr>
              <p:cNvSpPr/>
              <p:nvPr/>
            </p:nvSpPr>
            <p:spPr>
              <a:xfrm>
                <a:off x="1938339" y="4014416"/>
                <a:ext cx="6753223" cy="1449901"/>
              </a:xfrm>
              <a:prstGeom prst="flowChartTerminator">
                <a:avLst/>
              </a:prstGeom>
              <a:solidFill>
                <a:schemeClr val="bg1"/>
              </a:solidFill>
              <a:ln>
                <a:solidFill>
                  <a:srgbClr val="AAD7D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6392970-7B02-06FB-EF9B-40CA81C23B7D}"/>
                  </a:ext>
                </a:extLst>
              </p:cNvPr>
              <p:cNvSpPr txBox="1"/>
              <p:nvPr/>
            </p:nvSpPr>
            <p:spPr>
              <a:xfrm>
                <a:off x="2130400" y="4292972"/>
                <a:ext cx="633862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800" dirty="0">
                    <a:latin typeface="DM Sans" pitchFamily="2" charset="0"/>
                  </a:rPr>
                  <a:t>U.S. Teams</a:t>
                </a:r>
                <a:endParaRPr lang="en-IN" sz="4800" dirty="0">
                  <a:latin typeface="DM Sans" pitchFamily="2" charset="0"/>
                </a:endParaRPr>
              </a:p>
            </p:txBody>
          </p:sp>
          <p:sp>
            <p:nvSpPr>
              <p:cNvPr id="31" name="Flowchart: Terminator 30">
                <a:extLst>
                  <a:ext uri="{FF2B5EF4-FFF2-40B4-BE49-F238E27FC236}">
                    <a16:creationId xmlns:a16="http://schemas.microsoft.com/office/drawing/2014/main" id="{14C6EB2A-77C2-1015-D705-31F65FAAAD79}"/>
                  </a:ext>
                </a:extLst>
              </p:cNvPr>
              <p:cNvSpPr/>
              <p:nvPr/>
            </p:nvSpPr>
            <p:spPr>
              <a:xfrm>
                <a:off x="9596439" y="4000383"/>
                <a:ext cx="6753223" cy="1449901"/>
              </a:xfrm>
              <a:prstGeom prst="flowChartTerminator">
                <a:avLst/>
              </a:prstGeom>
              <a:solidFill>
                <a:schemeClr val="bg1"/>
              </a:solidFill>
              <a:ln>
                <a:solidFill>
                  <a:srgbClr val="AAD7D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D1EA038-8355-443C-D851-0EAEE60CE551}"/>
                  </a:ext>
                </a:extLst>
              </p:cNvPr>
              <p:cNvSpPr txBox="1"/>
              <p:nvPr/>
            </p:nvSpPr>
            <p:spPr>
              <a:xfrm>
                <a:off x="9818980" y="3954536"/>
                <a:ext cx="633862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800" dirty="0">
                    <a:latin typeface="DM Sans" pitchFamily="2" charset="0"/>
                  </a:rPr>
                  <a:t>Middle Eastern Teams</a:t>
                </a:r>
                <a:endParaRPr lang="en-IN" sz="4800" dirty="0">
                  <a:latin typeface="DM Sans" pitchFamily="2" charset="0"/>
                </a:endParaRPr>
              </a:p>
            </p:txBody>
          </p:sp>
        </p:grp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919CDF4-1E75-7CD9-6D99-6E97DC0A6D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44000" y="3898496"/>
              <a:ext cx="0" cy="4501689"/>
            </a:xfrm>
            <a:prstGeom prst="line">
              <a:avLst/>
            </a:prstGeom>
            <a:ln/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059E75B5-2EA1-4D53-9109-16EE8845796A}"/>
              </a:ext>
            </a:extLst>
          </p:cNvPr>
          <p:cNvSpPr txBox="1"/>
          <p:nvPr/>
        </p:nvSpPr>
        <p:spPr>
          <a:xfrm>
            <a:off x="-10915650" y="1228628"/>
            <a:ext cx="109156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Poppins Bold" panose="020B0604020202020204" charset="0"/>
                <a:cs typeface="Poppins Bold" panose="020B0604020202020204" charset="0"/>
              </a:rPr>
              <a:t>1. Cultural time orientation</a:t>
            </a:r>
            <a:endParaRPr lang="en-IN" sz="6000" dirty="0">
              <a:latin typeface="Poppins Bold" panose="020B0604020202020204" charset="0"/>
              <a:cs typeface="Poppins Bold" panose="020B0604020202020204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3EF0916-42C5-C095-B280-17FCE2CB7B66}"/>
              </a:ext>
            </a:extLst>
          </p:cNvPr>
          <p:cNvSpPr/>
          <p:nvPr/>
        </p:nvSpPr>
        <p:spPr>
          <a:xfrm>
            <a:off x="12463460" y="2431063"/>
            <a:ext cx="452439" cy="4571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3937FA8-B3B2-F3A0-4E7E-5CF56E3ACE4B}"/>
              </a:ext>
            </a:extLst>
          </p:cNvPr>
          <p:cNvSpPr/>
          <p:nvPr/>
        </p:nvSpPr>
        <p:spPr>
          <a:xfrm>
            <a:off x="5372100" y="2436376"/>
            <a:ext cx="452439" cy="4571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CF94741-8712-AA1F-D5C0-E634A609235A}"/>
              </a:ext>
            </a:extLst>
          </p:cNvPr>
          <p:cNvGrpSpPr/>
          <p:nvPr/>
        </p:nvGrpSpPr>
        <p:grpSpPr>
          <a:xfrm>
            <a:off x="18615320" y="3774001"/>
            <a:ext cx="15316200" cy="4800598"/>
            <a:chOff x="1485900" y="3774001"/>
            <a:chExt cx="15316200" cy="4800598"/>
          </a:xfrm>
        </p:grpSpPr>
        <p:grpSp>
          <p:nvGrpSpPr>
            <p:cNvPr id="45" name="Group 8">
              <a:extLst>
                <a:ext uri="{FF2B5EF4-FFF2-40B4-BE49-F238E27FC236}">
                  <a16:creationId xmlns:a16="http://schemas.microsoft.com/office/drawing/2014/main" id="{5F78DBE3-02A1-FA7C-016B-7CFC41E148F8}"/>
                </a:ext>
              </a:extLst>
            </p:cNvPr>
            <p:cNvGrpSpPr/>
            <p:nvPr/>
          </p:nvGrpSpPr>
          <p:grpSpPr>
            <a:xfrm>
              <a:off x="1485900" y="3774001"/>
              <a:ext cx="15316200" cy="4800598"/>
              <a:chOff x="0" y="0"/>
              <a:chExt cx="2286638" cy="712528"/>
            </a:xfrm>
          </p:grpSpPr>
          <p:sp>
            <p:nvSpPr>
              <p:cNvPr id="47" name="Freeform 9">
                <a:extLst>
                  <a:ext uri="{FF2B5EF4-FFF2-40B4-BE49-F238E27FC236}">
                    <a16:creationId xmlns:a16="http://schemas.microsoft.com/office/drawing/2014/main" id="{007B6D2A-C6F3-82B8-8E9C-A70CE72AD563}"/>
                  </a:ext>
                </a:extLst>
              </p:cNvPr>
              <p:cNvSpPr/>
              <p:nvPr/>
            </p:nvSpPr>
            <p:spPr>
              <a:xfrm>
                <a:off x="0" y="0"/>
                <a:ext cx="2286638" cy="712528"/>
              </a:xfrm>
              <a:custGeom>
                <a:avLst/>
                <a:gdLst/>
                <a:ahLst/>
                <a:cxnLst/>
                <a:rect l="l" t="t" r="r" b="b"/>
                <a:pathLst>
                  <a:path w="2286638" h="712528">
                    <a:moveTo>
                      <a:pt x="56670" y="0"/>
                    </a:moveTo>
                    <a:lnTo>
                      <a:pt x="2229968" y="0"/>
                    </a:lnTo>
                    <a:cubicBezTo>
                      <a:pt x="2261266" y="0"/>
                      <a:pt x="2286638" y="25372"/>
                      <a:pt x="2286638" y="56670"/>
                    </a:cubicBezTo>
                    <a:lnTo>
                      <a:pt x="2286638" y="655858"/>
                    </a:lnTo>
                    <a:cubicBezTo>
                      <a:pt x="2286638" y="670888"/>
                      <a:pt x="2280667" y="685302"/>
                      <a:pt x="2270040" y="695930"/>
                    </a:cubicBezTo>
                    <a:cubicBezTo>
                      <a:pt x="2259412" y="706557"/>
                      <a:pt x="2244998" y="712528"/>
                      <a:pt x="2229968" y="712528"/>
                    </a:cubicBezTo>
                    <a:lnTo>
                      <a:pt x="56670" y="712528"/>
                    </a:lnTo>
                    <a:cubicBezTo>
                      <a:pt x="25372" y="712528"/>
                      <a:pt x="0" y="687156"/>
                      <a:pt x="0" y="655858"/>
                    </a:cubicBezTo>
                    <a:lnTo>
                      <a:pt x="0" y="56670"/>
                    </a:lnTo>
                    <a:cubicBezTo>
                      <a:pt x="0" y="41640"/>
                      <a:pt x="5971" y="27226"/>
                      <a:pt x="16598" y="16598"/>
                    </a:cubicBezTo>
                    <a:cubicBezTo>
                      <a:pt x="27226" y="5971"/>
                      <a:pt x="41640" y="0"/>
                      <a:pt x="56670" y="0"/>
                    </a:cubicBezTo>
                    <a:close/>
                  </a:path>
                </a:pathLst>
              </a:custGeom>
              <a:solidFill>
                <a:srgbClr val="AAD7D4"/>
              </a:solidFill>
            </p:spPr>
          </p:sp>
          <p:sp>
            <p:nvSpPr>
              <p:cNvPr id="48" name="TextBox 10">
                <a:extLst>
                  <a:ext uri="{FF2B5EF4-FFF2-40B4-BE49-F238E27FC236}">
                    <a16:creationId xmlns:a16="http://schemas.microsoft.com/office/drawing/2014/main" id="{D0C9272E-675D-8A6A-65F9-BE2E20D9736E}"/>
                  </a:ext>
                </a:extLst>
              </p:cNvPr>
              <p:cNvSpPr txBox="1"/>
              <p:nvPr/>
            </p:nvSpPr>
            <p:spPr>
              <a:xfrm>
                <a:off x="0" y="85725"/>
                <a:ext cx="2286638" cy="62680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25"/>
                  </a:lnSpc>
                </a:pPr>
                <a:endParaRPr/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64FA569-07F4-541A-72FF-42E798AE4C25}"/>
                </a:ext>
              </a:extLst>
            </p:cNvPr>
            <p:cNvSpPr txBox="1"/>
            <p:nvPr/>
          </p:nvSpPr>
          <p:spPr>
            <a:xfrm>
              <a:off x="1981199" y="4765210"/>
              <a:ext cx="14325600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685800" indent="-685800">
                <a:buFont typeface="Arial" panose="020B0604020202020204" pitchFamily="34" charset="0"/>
                <a:buChar char="•"/>
              </a:pPr>
              <a:r>
                <a:rPr lang="en-US" sz="4800" dirty="0"/>
                <a:t>No shared meeting norms</a:t>
              </a:r>
            </a:p>
            <a:p>
              <a:pPr marL="685800" indent="-685800">
                <a:buFont typeface="Arial" panose="020B0604020202020204" pitchFamily="34" charset="0"/>
                <a:buChar char="•"/>
              </a:pPr>
              <a:r>
                <a:rPr lang="en-US" sz="4800" dirty="0"/>
                <a:t>Time zone and weekend mismatches</a:t>
              </a:r>
            </a:p>
            <a:p>
              <a:pPr marL="685800" indent="-685800">
                <a:buFont typeface="Arial" panose="020B0604020202020204" pitchFamily="34" charset="0"/>
                <a:buChar char="•"/>
              </a:pPr>
              <a:r>
                <a:rPr lang="en-US" sz="4800" dirty="0"/>
                <a:t>Inconsistent communication about schedule changes</a:t>
              </a:r>
              <a:endParaRPr lang="en-IN" sz="4800" dirty="0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B52429BB-7917-7675-36D5-E3D1033F4390}"/>
              </a:ext>
            </a:extLst>
          </p:cNvPr>
          <p:cNvSpPr txBox="1"/>
          <p:nvPr/>
        </p:nvSpPr>
        <p:spPr>
          <a:xfrm>
            <a:off x="18615320" y="1154379"/>
            <a:ext cx="117824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Poppins Bold" panose="020B0604020202020204" charset="0"/>
                <a:cs typeface="Poppins Bold" panose="020B0604020202020204" charset="0"/>
              </a:rPr>
              <a:t>3. Virtual Collaboration Gaps</a:t>
            </a:r>
            <a:endParaRPr lang="en-IN" sz="6000" dirty="0">
              <a:latin typeface="Poppins Bold" panose="020B0604020202020204" charset="0"/>
              <a:cs typeface="Poppins Bold" panose="020B0604020202020204" charset="0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73774FD-3362-AF01-910D-BE886CABA72C}"/>
              </a:ext>
            </a:extLst>
          </p:cNvPr>
          <p:cNvSpPr/>
          <p:nvPr/>
        </p:nvSpPr>
        <p:spPr>
          <a:xfrm>
            <a:off x="8784000" y="2268899"/>
            <a:ext cx="720000" cy="72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209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E6B1E-44D8-EAEA-D334-F50C82689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F9C97F57-E663-1A63-D6F5-5AB354C60F06}"/>
              </a:ext>
            </a:extLst>
          </p:cNvPr>
          <p:cNvGrpSpPr/>
          <p:nvPr/>
        </p:nvGrpSpPr>
        <p:grpSpPr>
          <a:xfrm>
            <a:off x="152400" y="152400"/>
            <a:ext cx="18288000" cy="10287000"/>
            <a:chOff x="0" y="0"/>
            <a:chExt cx="5913785" cy="3084566"/>
          </a:xfrm>
        </p:grpSpPr>
        <p:sp>
          <p:nvSpPr>
            <p:cNvPr id="41" name="Freeform 4">
              <a:extLst>
                <a:ext uri="{FF2B5EF4-FFF2-40B4-BE49-F238E27FC236}">
                  <a16:creationId xmlns:a16="http://schemas.microsoft.com/office/drawing/2014/main" id="{085AAB3A-9909-8D2D-762C-A86F1F1A7E69}"/>
                </a:ext>
              </a:extLst>
            </p:cNvPr>
            <p:cNvSpPr/>
            <p:nvPr/>
          </p:nvSpPr>
          <p:spPr>
            <a:xfrm>
              <a:off x="0" y="0"/>
              <a:ext cx="5913785" cy="3084567"/>
            </a:xfrm>
            <a:custGeom>
              <a:avLst/>
              <a:gdLst/>
              <a:ahLst/>
              <a:cxnLst/>
              <a:rect l="l" t="t" r="r" b="b"/>
              <a:pathLst>
                <a:path w="5913785" h="3084567">
                  <a:moveTo>
                    <a:pt x="0" y="0"/>
                  </a:moveTo>
                  <a:lnTo>
                    <a:pt x="5913785" y="0"/>
                  </a:lnTo>
                  <a:lnTo>
                    <a:pt x="5913785" y="3084567"/>
                  </a:lnTo>
                  <a:lnTo>
                    <a:pt x="0" y="3084567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3D41A61-F96F-47DB-0B19-EEACC058992E}"/>
                </a:ext>
              </a:extLst>
            </p:cNvPr>
            <p:cNvSpPr txBox="1"/>
            <p:nvPr/>
          </p:nvSpPr>
          <p:spPr>
            <a:xfrm>
              <a:off x="0" y="-57150"/>
              <a:ext cx="5913785" cy="31417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37" name="Freeform 2">
            <a:extLst>
              <a:ext uri="{FF2B5EF4-FFF2-40B4-BE49-F238E27FC236}">
                <a16:creationId xmlns:a16="http://schemas.microsoft.com/office/drawing/2014/main" id="{5F983A66-0D49-A4A1-2A40-A07D8D43BC7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2013892" h="12354774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467" b="-9467"/>
            </a:stretch>
          </a:blipFill>
        </p:spPr>
      </p:sp>
      <p:sp>
        <p:nvSpPr>
          <p:cNvPr id="8" name="AutoShape 23">
            <a:extLst>
              <a:ext uri="{FF2B5EF4-FFF2-40B4-BE49-F238E27FC236}">
                <a16:creationId xmlns:a16="http://schemas.microsoft.com/office/drawing/2014/main" id="{A7A26D47-E601-E422-6875-FE782C41EE30}"/>
              </a:ext>
            </a:extLst>
          </p:cNvPr>
          <p:cNvSpPr/>
          <p:nvPr/>
        </p:nvSpPr>
        <p:spPr>
          <a:xfrm flipV="1">
            <a:off x="504000" y="2628900"/>
            <a:ext cx="17280000" cy="0"/>
          </a:xfrm>
          <a:prstGeom prst="line">
            <a:avLst/>
          </a:prstGeom>
          <a:ln>
            <a:headEnd type="none" w="sm" len="sm"/>
            <a:tailEnd type="none" w="sm" len="sm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40" name="TextBox 5">
            <a:extLst>
              <a:ext uri="{FF2B5EF4-FFF2-40B4-BE49-F238E27FC236}">
                <a16:creationId xmlns:a16="http://schemas.microsoft.com/office/drawing/2014/main" id="{DC3A9764-376B-24C5-340D-50D986BD641A}"/>
              </a:ext>
            </a:extLst>
          </p:cNvPr>
          <p:cNvSpPr txBox="1"/>
          <p:nvPr/>
        </p:nvSpPr>
        <p:spPr>
          <a:xfrm>
            <a:off x="0" y="-190596"/>
            <a:ext cx="18288000" cy="104775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079"/>
              </a:lnSpc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F2317A-9C99-218B-C81F-43A87692EE22}"/>
              </a:ext>
            </a:extLst>
          </p:cNvPr>
          <p:cNvSpPr txBox="1"/>
          <p:nvPr/>
        </p:nvSpPr>
        <p:spPr>
          <a:xfrm>
            <a:off x="3252787" y="1143507"/>
            <a:ext cx="117824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Poppins Bold" panose="020B0604020202020204" charset="0"/>
                <a:cs typeface="Poppins Bold" panose="020B0604020202020204" charset="0"/>
              </a:rPr>
              <a:t>3. Virtual Collaboration Gaps</a:t>
            </a:r>
            <a:endParaRPr lang="en-IN" sz="6000" dirty="0">
              <a:latin typeface="Poppins Bold" panose="020B0604020202020204" charset="0"/>
              <a:cs typeface="Poppins Bold" panose="020B060402020202020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E9F378E-9226-757F-2AEB-3C4D9841DBC7}"/>
              </a:ext>
            </a:extLst>
          </p:cNvPr>
          <p:cNvGrpSpPr/>
          <p:nvPr/>
        </p:nvGrpSpPr>
        <p:grpSpPr>
          <a:xfrm>
            <a:off x="1485900" y="3774001"/>
            <a:ext cx="15316200" cy="4800598"/>
            <a:chOff x="1485900" y="3774001"/>
            <a:chExt cx="15316200" cy="4800598"/>
          </a:xfrm>
        </p:grpSpPr>
        <p:grpSp>
          <p:nvGrpSpPr>
            <p:cNvPr id="3" name="Group 8">
              <a:extLst>
                <a:ext uri="{FF2B5EF4-FFF2-40B4-BE49-F238E27FC236}">
                  <a16:creationId xmlns:a16="http://schemas.microsoft.com/office/drawing/2014/main" id="{CD257D7E-A636-2B09-B305-961A39CBAEEF}"/>
                </a:ext>
              </a:extLst>
            </p:cNvPr>
            <p:cNvGrpSpPr/>
            <p:nvPr/>
          </p:nvGrpSpPr>
          <p:grpSpPr>
            <a:xfrm>
              <a:off x="1485900" y="3774001"/>
              <a:ext cx="15316200" cy="4800598"/>
              <a:chOff x="0" y="0"/>
              <a:chExt cx="2286638" cy="712528"/>
            </a:xfrm>
          </p:grpSpPr>
          <p:sp>
            <p:nvSpPr>
              <p:cNvPr id="4" name="Freeform 9">
                <a:extLst>
                  <a:ext uri="{FF2B5EF4-FFF2-40B4-BE49-F238E27FC236}">
                    <a16:creationId xmlns:a16="http://schemas.microsoft.com/office/drawing/2014/main" id="{37208439-34AC-6E16-CE47-4D322A4F272A}"/>
                  </a:ext>
                </a:extLst>
              </p:cNvPr>
              <p:cNvSpPr/>
              <p:nvPr/>
            </p:nvSpPr>
            <p:spPr>
              <a:xfrm>
                <a:off x="0" y="0"/>
                <a:ext cx="2286638" cy="712528"/>
              </a:xfrm>
              <a:custGeom>
                <a:avLst/>
                <a:gdLst/>
                <a:ahLst/>
                <a:cxnLst/>
                <a:rect l="l" t="t" r="r" b="b"/>
                <a:pathLst>
                  <a:path w="2286638" h="712528">
                    <a:moveTo>
                      <a:pt x="56670" y="0"/>
                    </a:moveTo>
                    <a:lnTo>
                      <a:pt x="2229968" y="0"/>
                    </a:lnTo>
                    <a:cubicBezTo>
                      <a:pt x="2261266" y="0"/>
                      <a:pt x="2286638" y="25372"/>
                      <a:pt x="2286638" y="56670"/>
                    </a:cubicBezTo>
                    <a:lnTo>
                      <a:pt x="2286638" y="655858"/>
                    </a:lnTo>
                    <a:cubicBezTo>
                      <a:pt x="2286638" y="670888"/>
                      <a:pt x="2280667" y="685302"/>
                      <a:pt x="2270040" y="695930"/>
                    </a:cubicBezTo>
                    <a:cubicBezTo>
                      <a:pt x="2259412" y="706557"/>
                      <a:pt x="2244998" y="712528"/>
                      <a:pt x="2229968" y="712528"/>
                    </a:cubicBezTo>
                    <a:lnTo>
                      <a:pt x="56670" y="712528"/>
                    </a:lnTo>
                    <a:cubicBezTo>
                      <a:pt x="25372" y="712528"/>
                      <a:pt x="0" y="687156"/>
                      <a:pt x="0" y="655858"/>
                    </a:cubicBezTo>
                    <a:lnTo>
                      <a:pt x="0" y="56670"/>
                    </a:lnTo>
                    <a:cubicBezTo>
                      <a:pt x="0" y="41640"/>
                      <a:pt x="5971" y="27226"/>
                      <a:pt x="16598" y="16598"/>
                    </a:cubicBezTo>
                    <a:cubicBezTo>
                      <a:pt x="27226" y="5971"/>
                      <a:pt x="41640" y="0"/>
                      <a:pt x="56670" y="0"/>
                    </a:cubicBezTo>
                    <a:close/>
                  </a:path>
                </a:pathLst>
              </a:custGeom>
              <a:solidFill>
                <a:srgbClr val="AAD7D4"/>
              </a:solidFill>
            </p:spPr>
          </p:sp>
          <p:sp>
            <p:nvSpPr>
              <p:cNvPr id="5" name="TextBox 10">
                <a:extLst>
                  <a:ext uri="{FF2B5EF4-FFF2-40B4-BE49-F238E27FC236}">
                    <a16:creationId xmlns:a16="http://schemas.microsoft.com/office/drawing/2014/main" id="{F20E6F3B-D707-A109-D531-FC0C95BC861B}"/>
                  </a:ext>
                </a:extLst>
              </p:cNvPr>
              <p:cNvSpPr txBox="1"/>
              <p:nvPr/>
            </p:nvSpPr>
            <p:spPr>
              <a:xfrm>
                <a:off x="0" y="85725"/>
                <a:ext cx="2286638" cy="62680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25"/>
                  </a:lnSpc>
                </a:pPr>
                <a:endParaRPr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5125DB7-5CAC-EBBA-16A6-E8D9DB38DAED}"/>
                </a:ext>
              </a:extLst>
            </p:cNvPr>
            <p:cNvSpPr txBox="1"/>
            <p:nvPr/>
          </p:nvSpPr>
          <p:spPr>
            <a:xfrm>
              <a:off x="1981199" y="4765210"/>
              <a:ext cx="14325600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685800" indent="-685800">
                <a:buFont typeface="Arial" panose="020B0604020202020204" pitchFamily="34" charset="0"/>
                <a:buChar char="•"/>
              </a:pPr>
              <a:r>
                <a:rPr lang="en-US" sz="4800" dirty="0"/>
                <a:t>No shared meeting norms</a:t>
              </a:r>
            </a:p>
            <a:p>
              <a:pPr marL="685800" indent="-685800">
                <a:buFont typeface="Arial" panose="020B0604020202020204" pitchFamily="34" charset="0"/>
                <a:buChar char="•"/>
              </a:pPr>
              <a:r>
                <a:rPr lang="en-US" sz="4800" dirty="0"/>
                <a:t>Time zone and weekend mismatches</a:t>
              </a:r>
            </a:p>
            <a:p>
              <a:pPr marL="685800" indent="-685800">
                <a:buFont typeface="Arial" panose="020B0604020202020204" pitchFamily="34" charset="0"/>
                <a:buChar char="•"/>
              </a:pPr>
              <a:r>
                <a:rPr lang="en-US" sz="4800" dirty="0"/>
                <a:t>Inconsistent communication about schedule changes</a:t>
              </a:r>
              <a:endParaRPr lang="en-IN" sz="48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5C581D0-E044-93BB-A281-F9BAEB245B6E}"/>
              </a:ext>
            </a:extLst>
          </p:cNvPr>
          <p:cNvGrpSpPr/>
          <p:nvPr/>
        </p:nvGrpSpPr>
        <p:grpSpPr>
          <a:xfrm>
            <a:off x="-15563849" y="3774001"/>
            <a:ext cx="15316200" cy="4802400"/>
            <a:chOff x="1485900" y="3774001"/>
            <a:chExt cx="15316200" cy="480240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47C74F1-F7DA-65A7-5095-FD6C706DA6E0}"/>
                </a:ext>
              </a:extLst>
            </p:cNvPr>
            <p:cNvGrpSpPr/>
            <p:nvPr/>
          </p:nvGrpSpPr>
          <p:grpSpPr>
            <a:xfrm>
              <a:off x="1485900" y="3774001"/>
              <a:ext cx="15316200" cy="4802400"/>
              <a:chOff x="1485900" y="3774001"/>
              <a:chExt cx="15316200" cy="4800598"/>
            </a:xfrm>
          </p:grpSpPr>
          <p:grpSp>
            <p:nvGrpSpPr>
              <p:cNvPr id="20" name="Group 8">
                <a:extLst>
                  <a:ext uri="{FF2B5EF4-FFF2-40B4-BE49-F238E27FC236}">
                    <a16:creationId xmlns:a16="http://schemas.microsoft.com/office/drawing/2014/main" id="{B0819C11-988A-3730-BE17-244FD852E9BB}"/>
                  </a:ext>
                </a:extLst>
              </p:cNvPr>
              <p:cNvGrpSpPr/>
              <p:nvPr/>
            </p:nvGrpSpPr>
            <p:grpSpPr>
              <a:xfrm>
                <a:off x="1485900" y="3774001"/>
                <a:ext cx="15316200" cy="4800598"/>
                <a:chOff x="0" y="0"/>
                <a:chExt cx="2286638" cy="712528"/>
              </a:xfrm>
            </p:grpSpPr>
            <p:sp>
              <p:nvSpPr>
                <p:cNvPr id="28" name="Freeform 9">
                  <a:extLst>
                    <a:ext uri="{FF2B5EF4-FFF2-40B4-BE49-F238E27FC236}">
                      <a16:creationId xmlns:a16="http://schemas.microsoft.com/office/drawing/2014/main" id="{6BA81FAA-BF4E-A151-72FF-79ABBC63B02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286638" cy="712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638" h="712528">
                      <a:moveTo>
                        <a:pt x="56670" y="0"/>
                      </a:moveTo>
                      <a:lnTo>
                        <a:pt x="2229968" y="0"/>
                      </a:lnTo>
                      <a:cubicBezTo>
                        <a:pt x="2261266" y="0"/>
                        <a:pt x="2286638" y="25372"/>
                        <a:pt x="2286638" y="56670"/>
                      </a:cubicBezTo>
                      <a:lnTo>
                        <a:pt x="2286638" y="655858"/>
                      </a:lnTo>
                      <a:cubicBezTo>
                        <a:pt x="2286638" y="670888"/>
                        <a:pt x="2280667" y="685302"/>
                        <a:pt x="2270040" y="695930"/>
                      </a:cubicBezTo>
                      <a:cubicBezTo>
                        <a:pt x="2259412" y="706557"/>
                        <a:pt x="2244998" y="712528"/>
                        <a:pt x="2229968" y="712528"/>
                      </a:cubicBezTo>
                      <a:lnTo>
                        <a:pt x="56670" y="712528"/>
                      </a:lnTo>
                      <a:cubicBezTo>
                        <a:pt x="25372" y="712528"/>
                        <a:pt x="0" y="687156"/>
                        <a:pt x="0" y="655858"/>
                      </a:cubicBezTo>
                      <a:lnTo>
                        <a:pt x="0" y="56670"/>
                      </a:lnTo>
                      <a:cubicBezTo>
                        <a:pt x="0" y="41640"/>
                        <a:pt x="5971" y="27226"/>
                        <a:pt x="16598" y="16598"/>
                      </a:cubicBezTo>
                      <a:cubicBezTo>
                        <a:pt x="27226" y="5971"/>
                        <a:pt x="41640" y="0"/>
                        <a:pt x="56670" y="0"/>
                      </a:cubicBezTo>
                      <a:close/>
                    </a:path>
                  </a:pathLst>
                </a:custGeom>
                <a:solidFill>
                  <a:srgbClr val="AAD7D4"/>
                </a:solidFill>
              </p:spPr>
            </p:sp>
            <p:sp>
              <p:nvSpPr>
                <p:cNvPr id="29" name="TextBox 10">
                  <a:extLst>
                    <a:ext uri="{FF2B5EF4-FFF2-40B4-BE49-F238E27FC236}">
                      <a16:creationId xmlns:a16="http://schemas.microsoft.com/office/drawing/2014/main" id="{68BAB5FB-D335-57A3-3853-820CCB0EBF4C}"/>
                    </a:ext>
                  </a:extLst>
                </p:cNvPr>
                <p:cNvSpPr txBox="1"/>
                <p:nvPr/>
              </p:nvSpPr>
              <p:spPr>
                <a:xfrm>
                  <a:off x="0" y="85725"/>
                  <a:ext cx="2286638" cy="626803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1925"/>
                    </a:lnSpc>
                  </a:pPr>
                  <a:endParaRPr/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AFA54AE-43D2-B388-7815-4A2A481C296C}"/>
                  </a:ext>
                </a:extLst>
              </p:cNvPr>
              <p:cNvSpPr txBox="1"/>
              <p:nvPr/>
            </p:nvSpPr>
            <p:spPr>
              <a:xfrm>
                <a:off x="1885951" y="5777400"/>
                <a:ext cx="685799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/>
                  <a:t>Tasks and deadlines</a:t>
                </a:r>
              </a:p>
              <a:p>
                <a:pPr algn="ctr"/>
                <a:r>
                  <a:rPr lang="en-US" sz="3600" dirty="0"/>
                  <a:t>Focused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4F5053C-322E-3B42-AB7C-1950E3E08927}"/>
                  </a:ext>
                </a:extLst>
              </p:cNvPr>
              <p:cNvSpPr txBox="1"/>
              <p:nvPr/>
            </p:nvSpPr>
            <p:spPr>
              <a:xfrm>
                <a:off x="9596439" y="5777399"/>
                <a:ext cx="685800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dirty="0"/>
                  <a:t>Relationships</a:t>
                </a:r>
              </a:p>
              <a:p>
                <a:pPr algn="ctr"/>
                <a:r>
                  <a:rPr lang="en-US" sz="3600" dirty="0"/>
                  <a:t>Focused</a:t>
                </a:r>
              </a:p>
            </p:txBody>
          </p:sp>
          <p:sp>
            <p:nvSpPr>
              <p:cNvPr id="24" name="Flowchart: Terminator 23">
                <a:extLst>
                  <a:ext uri="{FF2B5EF4-FFF2-40B4-BE49-F238E27FC236}">
                    <a16:creationId xmlns:a16="http://schemas.microsoft.com/office/drawing/2014/main" id="{0AD15B4B-7840-B8D2-82FB-46A75061668F}"/>
                  </a:ext>
                </a:extLst>
              </p:cNvPr>
              <p:cNvSpPr/>
              <p:nvPr/>
            </p:nvSpPr>
            <p:spPr>
              <a:xfrm>
                <a:off x="1938339" y="4014416"/>
                <a:ext cx="6753223" cy="1449901"/>
              </a:xfrm>
              <a:prstGeom prst="flowChartTerminator">
                <a:avLst/>
              </a:prstGeom>
              <a:solidFill>
                <a:schemeClr val="bg1"/>
              </a:solidFill>
              <a:ln>
                <a:solidFill>
                  <a:srgbClr val="AAD7D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6D410E3-01CC-44F2-8768-6B44AA2F8206}"/>
                  </a:ext>
                </a:extLst>
              </p:cNvPr>
              <p:cNvSpPr txBox="1"/>
              <p:nvPr/>
            </p:nvSpPr>
            <p:spPr>
              <a:xfrm>
                <a:off x="2130400" y="4292972"/>
                <a:ext cx="633862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800" dirty="0">
                    <a:latin typeface="DM Sans" pitchFamily="2" charset="0"/>
                  </a:rPr>
                  <a:t>U.S. Teams</a:t>
                </a:r>
                <a:endParaRPr lang="en-IN" sz="4800" dirty="0">
                  <a:latin typeface="DM Sans" pitchFamily="2" charset="0"/>
                </a:endParaRPr>
              </a:p>
            </p:txBody>
          </p:sp>
          <p:sp>
            <p:nvSpPr>
              <p:cNvPr id="26" name="Flowchart: Terminator 25">
                <a:extLst>
                  <a:ext uri="{FF2B5EF4-FFF2-40B4-BE49-F238E27FC236}">
                    <a16:creationId xmlns:a16="http://schemas.microsoft.com/office/drawing/2014/main" id="{56E7F41E-8436-ABD2-C6AA-1482BA704E6F}"/>
                  </a:ext>
                </a:extLst>
              </p:cNvPr>
              <p:cNvSpPr/>
              <p:nvPr/>
            </p:nvSpPr>
            <p:spPr>
              <a:xfrm>
                <a:off x="9596439" y="4000383"/>
                <a:ext cx="6753223" cy="1449901"/>
              </a:xfrm>
              <a:prstGeom prst="flowChartTerminator">
                <a:avLst/>
              </a:prstGeom>
              <a:solidFill>
                <a:schemeClr val="bg1"/>
              </a:solidFill>
              <a:ln>
                <a:solidFill>
                  <a:srgbClr val="AAD7D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D36C717-1556-0FCA-A1A2-0B4F7DE918E8}"/>
                  </a:ext>
                </a:extLst>
              </p:cNvPr>
              <p:cNvSpPr txBox="1"/>
              <p:nvPr/>
            </p:nvSpPr>
            <p:spPr>
              <a:xfrm>
                <a:off x="9818980" y="3954536"/>
                <a:ext cx="633862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800" dirty="0">
                    <a:latin typeface="DM Sans" pitchFamily="2" charset="0"/>
                  </a:rPr>
                  <a:t>Middle Eastern Teams</a:t>
                </a:r>
                <a:endParaRPr lang="en-IN" sz="4800" dirty="0">
                  <a:latin typeface="DM Sans" pitchFamily="2" charset="0"/>
                </a:endParaRPr>
              </a:p>
            </p:txBody>
          </p: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2A2BAA6-76B4-F744-046A-706B48584C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44000" y="3924356"/>
              <a:ext cx="0" cy="4501689"/>
            </a:xfrm>
            <a:prstGeom prst="line">
              <a:avLst/>
            </a:prstGeom>
            <a:ln/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402C89F2-F1D3-B28A-A95F-757365208C53}"/>
              </a:ext>
            </a:extLst>
          </p:cNvPr>
          <p:cNvSpPr txBox="1"/>
          <p:nvPr/>
        </p:nvSpPr>
        <p:spPr>
          <a:xfrm>
            <a:off x="-10191749" y="1143506"/>
            <a:ext cx="9944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Poppins Bold" panose="020B0604020202020204" charset="0"/>
                <a:cs typeface="Poppins Bold" panose="020B0604020202020204" charset="0"/>
              </a:rPr>
              <a:t>2. Work Style Differences</a:t>
            </a:r>
            <a:endParaRPr lang="en-IN" sz="6000" dirty="0">
              <a:latin typeface="Poppins Bold" panose="020B0604020202020204" charset="0"/>
              <a:cs typeface="Poppins Bold" panose="020B060402020202020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C45DAAD-B4CC-433C-C57C-C59E0DF31809}"/>
              </a:ext>
            </a:extLst>
          </p:cNvPr>
          <p:cNvSpPr/>
          <p:nvPr/>
        </p:nvSpPr>
        <p:spPr>
          <a:xfrm>
            <a:off x="5300659" y="2431083"/>
            <a:ext cx="452439" cy="4571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C77349F-2020-032F-EE2E-331318C6EA1D}"/>
              </a:ext>
            </a:extLst>
          </p:cNvPr>
          <p:cNvSpPr/>
          <p:nvPr/>
        </p:nvSpPr>
        <p:spPr>
          <a:xfrm>
            <a:off x="1754979" y="2410567"/>
            <a:ext cx="452439" cy="4571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7943DFC-C56B-BBC8-FEA2-2E2ACFE484DE}"/>
              </a:ext>
            </a:extLst>
          </p:cNvPr>
          <p:cNvSpPr/>
          <p:nvPr/>
        </p:nvSpPr>
        <p:spPr>
          <a:xfrm>
            <a:off x="8784000" y="2268899"/>
            <a:ext cx="720000" cy="72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80EB8CC-CE78-0427-893A-8AAE76871261}"/>
              </a:ext>
            </a:extLst>
          </p:cNvPr>
          <p:cNvSpPr/>
          <p:nvPr/>
        </p:nvSpPr>
        <p:spPr>
          <a:xfrm>
            <a:off x="-423824400" y="-151142700"/>
            <a:ext cx="892061100" cy="416356800"/>
          </a:xfrm>
          <a:custGeom>
            <a:avLst/>
            <a:gdLst/>
            <a:ahLst/>
            <a:cxnLst/>
            <a:rect l="l" t="t" r="r" b="b"/>
            <a:pathLst>
              <a:path w="18288000" h="11087100">
                <a:moveTo>
                  <a:pt x="6918084" y="3829641"/>
                </a:moveTo>
                <a:cubicBezTo>
                  <a:pt x="6993071" y="3829641"/>
                  <a:pt x="7056197" y="3857187"/>
                  <a:pt x="7107465" y="3912280"/>
                </a:cubicBezTo>
                <a:cubicBezTo>
                  <a:pt x="7158731" y="3967372"/>
                  <a:pt x="7184365" y="4046185"/>
                  <a:pt x="7184365" y="4148719"/>
                </a:cubicBezTo>
                <a:cubicBezTo>
                  <a:pt x="7184365" y="4251252"/>
                  <a:pt x="7157966" y="4330065"/>
                  <a:pt x="7105168" y="4385158"/>
                </a:cubicBezTo>
                <a:cubicBezTo>
                  <a:pt x="7052372" y="4440250"/>
                  <a:pt x="6988481" y="4467797"/>
                  <a:pt x="6913493" y="4467797"/>
                </a:cubicBezTo>
                <a:cubicBezTo>
                  <a:pt x="6838505" y="4467797"/>
                  <a:pt x="6776144" y="4440250"/>
                  <a:pt x="6726407" y="4385158"/>
                </a:cubicBezTo>
                <a:cubicBezTo>
                  <a:pt x="6676671" y="4330065"/>
                  <a:pt x="6651803" y="4251252"/>
                  <a:pt x="6651803" y="4148719"/>
                </a:cubicBezTo>
                <a:cubicBezTo>
                  <a:pt x="6651803" y="4044655"/>
                  <a:pt x="6677054" y="3965459"/>
                  <a:pt x="6727555" y="3911132"/>
                </a:cubicBezTo>
                <a:cubicBezTo>
                  <a:pt x="6778057" y="3856805"/>
                  <a:pt x="6841566" y="3829641"/>
                  <a:pt x="6918084" y="3829641"/>
                </a:cubicBezTo>
                <a:close/>
                <a:moveTo>
                  <a:pt x="9905028" y="3804390"/>
                </a:moveTo>
                <a:cubicBezTo>
                  <a:pt x="9973894" y="3804390"/>
                  <a:pt x="10031282" y="3824285"/>
                  <a:pt x="10077192" y="3864074"/>
                </a:cubicBezTo>
                <a:cubicBezTo>
                  <a:pt x="10123102" y="3903863"/>
                  <a:pt x="10146058" y="3957425"/>
                  <a:pt x="10146058" y="4024760"/>
                </a:cubicBezTo>
                <a:lnTo>
                  <a:pt x="9654816" y="4024760"/>
                </a:lnTo>
                <a:cubicBezTo>
                  <a:pt x="9665528" y="3954364"/>
                  <a:pt x="9693456" y="3900037"/>
                  <a:pt x="9738602" y="3861778"/>
                </a:cubicBezTo>
                <a:cubicBezTo>
                  <a:pt x="9783747" y="3823520"/>
                  <a:pt x="9839222" y="3804390"/>
                  <a:pt x="9905028" y="3804390"/>
                </a:cubicBezTo>
                <a:close/>
                <a:moveTo>
                  <a:pt x="13178904" y="3508267"/>
                </a:moveTo>
                <a:lnTo>
                  <a:pt x="13178904" y="4789170"/>
                </a:lnTo>
                <a:lnTo>
                  <a:pt x="13571439" y="4789170"/>
                </a:lnTo>
                <a:lnTo>
                  <a:pt x="13571439" y="3508267"/>
                </a:lnTo>
                <a:close/>
                <a:moveTo>
                  <a:pt x="11516734" y="3494494"/>
                </a:moveTo>
                <a:cubicBezTo>
                  <a:pt x="11435625" y="3494494"/>
                  <a:pt x="11362934" y="3510180"/>
                  <a:pt x="11298659" y="3541552"/>
                </a:cubicBezTo>
                <a:cubicBezTo>
                  <a:pt x="11234385" y="3572925"/>
                  <a:pt x="11182352" y="3615392"/>
                  <a:pt x="11142564" y="3668954"/>
                </a:cubicBezTo>
                <a:lnTo>
                  <a:pt x="11142564" y="3508267"/>
                </a:lnTo>
                <a:lnTo>
                  <a:pt x="10750029" y="3508267"/>
                </a:lnTo>
                <a:lnTo>
                  <a:pt x="10750029" y="4789170"/>
                </a:lnTo>
                <a:lnTo>
                  <a:pt x="11142564" y="4789170"/>
                </a:lnTo>
                <a:lnTo>
                  <a:pt x="11142564" y="4093626"/>
                </a:lnTo>
                <a:cubicBezTo>
                  <a:pt x="11142564" y="4010987"/>
                  <a:pt x="11164371" y="3947095"/>
                  <a:pt x="11207986" y="3901950"/>
                </a:cubicBezTo>
                <a:cubicBezTo>
                  <a:pt x="11251601" y="3856805"/>
                  <a:pt x="11311667" y="3834232"/>
                  <a:pt x="11388185" y="3834232"/>
                </a:cubicBezTo>
                <a:cubicBezTo>
                  <a:pt x="11464701" y="3834232"/>
                  <a:pt x="11524769" y="3856805"/>
                  <a:pt x="11568383" y="3901950"/>
                </a:cubicBezTo>
                <a:cubicBezTo>
                  <a:pt x="11611998" y="3947095"/>
                  <a:pt x="11633806" y="4010987"/>
                  <a:pt x="11633806" y="4093626"/>
                </a:cubicBezTo>
                <a:lnTo>
                  <a:pt x="11633806" y="4789170"/>
                </a:lnTo>
                <a:lnTo>
                  <a:pt x="12024045" y="4789170"/>
                </a:lnTo>
                <a:lnTo>
                  <a:pt x="12024045" y="4093626"/>
                </a:lnTo>
                <a:cubicBezTo>
                  <a:pt x="12024045" y="4010987"/>
                  <a:pt x="12045853" y="3947095"/>
                  <a:pt x="12089468" y="3901950"/>
                </a:cubicBezTo>
                <a:cubicBezTo>
                  <a:pt x="12133083" y="3856805"/>
                  <a:pt x="12193149" y="3834232"/>
                  <a:pt x="12269666" y="3834232"/>
                </a:cubicBezTo>
                <a:cubicBezTo>
                  <a:pt x="12346184" y="3834232"/>
                  <a:pt x="12406250" y="3856805"/>
                  <a:pt x="12449865" y="3901950"/>
                </a:cubicBezTo>
                <a:cubicBezTo>
                  <a:pt x="12493480" y="3947095"/>
                  <a:pt x="12515287" y="4010987"/>
                  <a:pt x="12515287" y="4093626"/>
                </a:cubicBezTo>
                <a:lnTo>
                  <a:pt x="12515287" y="4789170"/>
                </a:lnTo>
                <a:lnTo>
                  <a:pt x="12905526" y="4789170"/>
                </a:lnTo>
                <a:lnTo>
                  <a:pt x="12905526" y="4040829"/>
                </a:lnTo>
                <a:cubicBezTo>
                  <a:pt x="12905526" y="3869430"/>
                  <a:pt x="12858469" y="3735524"/>
                  <a:pt x="12764352" y="3639112"/>
                </a:cubicBezTo>
                <a:cubicBezTo>
                  <a:pt x="12670236" y="3542700"/>
                  <a:pt x="12543599" y="3494494"/>
                  <a:pt x="12384443" y="3494494"/>
                </a:cubicBezTo>
                <a:cubicBezTo>
                  <a:pt x="12294152" y="3494494"/>
                  <a:pt x="12210748" y="3516684"/>
                  <a:pt x="12134230" y="3561065"/>
                </a:cubicBezTo>
                <a:cubicBezTo>
                  <a:pt x="12057713" y="3605444"/>
                  <a:pt x="11997264" y="3662833"/>
                  <a:pt x="11952884" y="3733229"/>
                </a:cubicBezTo>
                <a:cubicBezTo>
                  <a:pt x="11910034" y="3656711"/>
                  <a:pt x="11850732" y="3597793"/>
                  <a:pt x="11774980" y="3556473"/>
                </a:cubicBezTo>
                <a:cubicBezTo>
                  <a:pt x="11699229" y="3515154"/>
                  <a:pt x="11613146" y="3494494"/>
                  <a:pt x="11516734" y="3494494"/>
                </a:cubicBezTo>
                <a:close/>
                <a:moveTo>
                  <a:pt x="8577758" y="3494494"/>
                </a:moveTo>
                <a:cubicBezTo>
                  <a:pt x="8493588" y="3494494"/>
                  <a:pt x="8417836" y="3510945"/>
                  <a:pt x="8350500" y="3543848"/>
                </a:cubicBezTo>
                <a:cubicBezTo>
                  <a:pt x="8283166" y="3576751"/>
                  <a:pt x="8229603" y="3621513"/>
                  <a:pt x="8189814" y="3678136"/>
                </a:cubicBezTo>
                <a:lnTo>
                  <a:pt x="8189814" y="3508267"/>
                </a:lnTo>
                <a:lnTo>
                  <a:pt x="7797279" y="3508267"/>
                </a:lnTo>
                <a:lnTo>
                  <a:pt x="7797279" y="4789170"/>
                </a:lnTo>
                <a:lnTo>
                  <a:pt x="8189814" y="4789170"/>
                </a:lnTo>
                <a:lnTo>
                  <a:pt x="8189814" y="4093626"/>
                </a:lnTo>
                <a:cubicBezTo>
                  <a:pt x="8189814" y="4007927"/>
                  <a:pt x="8212004" y="3941356"/>
                  <a:pt x="8256384" y="3893916"/>
                </a:cubicBezTo>
                <a:cubicBezTo>
                  <a:pt x="8300765" y="3846475"/>
                  <a:pt x="8360448" y="3822754"/>
                  <a:pt x="8435434" y="3822754"/>
                </a:cubicBezTo>
                <a:cubicBezTo>
                  <a:pt x="8510422" y="3822754"/>
                  <a:pt x="8570106" y="3846475"/>
                  <a:pt x="8614486" y="3893916"/>
                </a:cubicBezTo>
                <a:cubicBezTo>
                  <a:pt x="8658866" y="3941356"/>
                  <a:pt x="8681056" y="4007927"/>
                  <a:pt x="8681056" y="4093626"/>
                </a:cubicBezTo>
                <a:lnTo>
                  <a:pt x="8681056" y="4789170"/>
                </a:lnTo>
                <a:lnTo>
                  <a:pt x="9071295" y="4789170"/>
                </a:lnTo>
                <a:lnTo>
                  <a:pt x="9071295" y="4040829"/>
                </a:lnTo>
                <a:cubicBezTo>
                  <a:pt x="9071295" y="3870960"/>
                  <a:pt x="9026532" y="3737437"/>
                  <a:pt x="8937007" y="3640260"/>
                </a:cubicBezTo>
                <a:cubicBezTo>
                  <a:pt x="8847482" y="3543083"/>
                  <a:pt x="8727732" y="3494494"/>
                  <a:pt x="8577758" y="3494494"/>
                </a:cubicBezTo>
                <a:close/>
                <a:moveTo>
                  <a:pt x="6143606" y="3494494"/>
                </a:moveTo>
                <a:cubicBezTo>
                  <a:pt x="6059437" y="3494494"/>
                  <a:pt x="5982919" y="3514771"/>
                  <a:pt x="5914053" y="3555326"/>
                </a:cubicBezTo>
                <a:cubicBezTo>
                  <a:pt x="5845188" y="3595880"/>
                  <a:pt x="5787799" y="3651355"/>
                  <a:pt x="5741890" y="3721751"/>
                </a:cubicBezTo>
                <a:lnTo>
                  <a:pt x="5741890" y="3508267"/>
                </a:lnTo>
                <a:lnTo>
                  <a:pt x="5349355" y="3508267"/>
                </a:lnTo>
                <a:lnTo>
                  <a:pt x="5349355" y="4789170"/>
                </a:lnTo>
                <a:lnTo>
                  <a:pt x="5741890" y="4789170"/>
                </a:lnTo>
                <a:lnTo>
                  <a:pt x="5741890" y="4194629"/>
                </a:lnTo>
                <a:cubicBezTo>
                  <a:pt x="5741890" y="4089035"/>
                  <a:pt x="5766375" y="4015196"/>
                  <a:pt x="5815346" y="3973111"/>
                </a:cubicBezTo>
                <a:cubicBezTo>
                  <a:pt x="5864317" y="3931026"/>
                  <a:pt x="5937774" y="3909984"/>
                  <a:pt x="6035716" y="3909984"/>
                </a:cubicBezTo>
                <a:lnTo>
                  <a:pt x="6143606" y="3909984"/>
                </a:lnTo>
                <a:close/>
                <a:moveTo>
                  <a:pt x="15739367" y="3489903"/>
                </a:moveTo>
                <a:cubicBezTo>
                  <a:pt x="15630712" y="3489903"/>
                  <a:pt x="15536977" y="3507502"/>
                  <a:pt x="15458165" y="3542700"/>
                </a:cubicBezTo>
                <a:cubicBezTo>
                  <a:pt x="15379352" y="3577898"/>
                  <a:pt x="15319668" y="3625722"/>
                  <a:pt x="15279114" y="3686171"/>
                </a:cubicBezTo>
                <a:cubicBezTo>
                  <a:pt x="15238559" y="3746619"/>
                  <a:pt x="15218283" y="3813572"/>
                  <a:pt x="15218283" y="3887029"/>
                </a:cubicBezTo>
                <a:cubicBezTo>
                  <a:pt x="15218283" y="3974259"/>
                  <a:pt x="15240472" y="4043507"/>
                  <a:pt x="15284853" y="4094774"/>
                </a:cubicBezTo>
                <a:cubicBezTo>
                  <a:pt x="15329233" y="4146041"/>
                  <a:pt x="15382030" y="4183534"/>
                  <a:pt x="15443245" y="4207255"/>
                </a:cubicBezTo>
                <a:cubicBezTo>
                  <a:pt x="15504458" y="4230975"/>
                  <a:pt x="15580976" y="4253548"/>
                  <a:pt x="15672797" y="4274973"/>
                </a:cubicBezTo>
                <a:cubicBezTo>
                  <a:pt x="15758495" y="4296398"/>
                  <a:pt x="15820475" y="4315909"/>
                  <a:pt x="15858734" y="4333508"/>
                </a:cubicBezTo>
                <a:cubicBezTo>
                  <a:pt x="15896992" y="4351108"/>
                  <a:pt x="15916123" y="4378271"/>
                  <a:pt x="15916123" y="4415000"/>
                </a:cubicBezTo>
                <a:cubicBezTo>
                  <a:pt x="15916123" y="4445607"/>
                  <a:pt x="15902732" y="4470475"/>
                  <a:pt x="15875951" y="4489604"/>
                </a:cubicBezTo>
                <a:cubicBezTo>
                  <a:pt x="15849169" y="4508734"/>
                  <a:pt x="15811293" y="4518298"/>
                  <a:pt x="15762322" y="4518298"/>
                </a:cubicBezTo>
                <a:cubicBezTo>
                  <a:pt x="15708760" y="4518298"/>
                  <a:pt x="15663615" y="4504525"/>
                  <a:pt x="15626886" y="4476979"/>
                </a:cubicBezTo>
                <a:cubicBezTo>
                  <a:pt x="15590158" y="4449433"/>
                  <a:pt x="15569499" y="4413469"/>
                  <a:pt x="15564907" y="4369089"/>
                </a:cubicBezTo>
                <a:lnTo>
                  <a:pt x="15176963" y="4369089"/>
                </a:lnTo>
                <a:cubicBezTo>
                  <a:pt x="15183085" y="4451728"/>
                  <a:pt x="15211396" y="4526333"/>
                  <a:pt x="15261898" y="4592903"/>
                </a:cubicBezTo>
                <a:cubicBezTo>
                  <a:pt x="15312399" y="4659473"/>
                  <a:pt x="15381265" y="4711888"/>
                  <a:pt x="15468495" y="4750146"/>
                </a:cubicBezTo>
                <a:cubicBezTo>
                  <a:pt x="15555725" y="4788405"/>
                  <a:pt x="15655197" y="4807534"/>
                  <a:pt x="15766913" y="4807534"/>
                </a:cubicBezTo>
                <a:cubicBezTo>
                  <a:pt x="15870977" y="4807534"/>
                  <a:pt x="15962415" y="4790700"/>
                  <a:pt x="16041229" y="4757033"/>
                </a:cubicBezTo>
                <a:cubicBezTo>
                  <a:pt x="16120040" y="4723365"/>
                  <a:pt x="16180490" y="4677072"/>
                  <a:pt x="16222575" y="4618154"/>
                </a:cubicBezTo>
                <a:cubicBezTo>
                  <a:pt x="16264658" y="4559235"/>
                  <a:pt x="16285702" y="4492282"/>
                  <a:pt x="16285702" y="4417295"/>
                </a:cubicBezTo>
                <a:cubicBezTo>
                  <a:pt x="16284171" y="4328535"/>
                  <a:pt x="16260833" y="4257756"/>
                  <a:pt x="16215688" y="4204959"/>
                </a:cubicBezTo>
                <a:cubicBezTo>
                  <a:pt x="16170542" y="4152162"/>
                  <a:pt x="16118129" y="4113903"/>
                  <a:pt x="16058445" y="4090183"/>
                </a:cubicBezTo>
                <a:cubicBezTo>
                  <a:pt x="15998762" y="4066463"/>
                  <a:pt x="15921478" y="4042359"/>
                  <a:pt x="15826597" y="4017874"/>
                </a:cubicBezTo>
                <a:cubicBezTo>
                  <a:pt x="15743958" y="3999510"/>
                  <a:pt x="15683126" y="3981146"/>
                  <a:pt x="15644102" y="3962781"/>
                </a:cubicBezTo>
                <a:cubicBezTo>
                  <a:pt x="15605079" y="3944417"/>
                  <a:pt x="15585567" y="3916871"/>
                  <a:pt x="15585567" y="3880142"/>
                </a:cubicBezTo>
                <a:cubicBezTo>
                  <a:pt x="15585567" y="3849535"/>
                  <a:pt x="15597808" y="3825433"/>
                  <a:pt x="15622295" y="3807834"/>
                </a:cubicBezTo>
                <a:cubicBezTo>
                  <a:pt x="15646780" y="3790234"/>
                  <a:pt x="15681979" y="3781435"/>
                  <a:pt x="15727889" y="3781435"/>
                </a:cubicBezTo>
                <a:cubicBezTo>
                  <a:pt x="15781451" y="3781435"/>
                  <a:pt x="15824684" y="3794443"/>
                  <a:pt x="15857587" y="3820459"/>
                </a:cubicBezTo>
                <a:cubicBezTo>
                  <a:pt x="15890488" y="3846475"/>
                  <a:pt x="15910000" y="3881673"/>
                  <a:pt x="15916123" y="3926053"/>
                </a:cubicBezTo>
                <a:lnTo>
                  <a:pt x="16278816" y="3926053"/>
                </a:lnTo>
                <a:cubicBezTo>
                  <a:pt x="16265042" y="3794443"/>
                  <a:pt x="16211862" y="3688849"/>
                  <a:pt x="16119277" y="3609271"/>
                </a:cubicBezTo>
                <a:cubicBezTo>
                  <a:pt x="16026689" y="3529692"/>
                  <a:pt x="15900054" y="3489903"/>
                  <a:pt x="15739367" y="3489903"/>
                </a:cubicBezTo>
                <a:close/>
                <a:moveTo>
                  <a:pt x="14419877" y="3489903"/>
                </a:moveTo>
                <a:cubicBezTo>
                  <a:pt x="14294389" y="3489903"/>
                  <a:pt x="14183056" y="3516684"/>
                  <a:pt x="14085879" y="3570247"/>
                </a:cubicBezTo>
                <a:cubicBezTo>
                  <a:pt x="13988702" y="3623809"/>
                  <a:pt x="13912950" y="3700326"/>
                  <a:pt x="13858622" y="3799799"/>
                </a:cubicBezTo>
                <a:cubicBezTo>
                  <a:pt x="13804295" y="3899272"/>
                  <a:pt x="13777130" y="4015578"/>
                  <a:pt x="13777130" y="4148719"/>
                </a:cubicBezTo>
                <a:cubicBezTo>
                  <a:pt x="13777130" y="4281859"/>
                  <a:pt x="13804295" y="4398166"/>
                  <a:pt x="13858622" y="4497639"/>
                </a:cubicBezTo>
                <a:cubicBezTo>
                  <a:pt x="13912950" y="4597111"/>
                  <a:pt x="13988702" y="4673629"/>
                  <a:pt x="14085879" y="4727191"/>
                </a:cubicBezTo>
                <a:cubicBezTo>
                  <a:pt x="14183056" y="4780753"/>
                  <a:pt x="14294389" y="4807534"/>
                  <a:pt x="14419877" y="4807534"/>
                </a:cubicBezTo>
                <a:cubicBezTo>
                  <a:pt x="14579035" y="4807534"/>
                  <a:pt x="14712940" y="4764685"/>
                  <a:pt x="14821594" y="4678985"/>
                </a:cubicBezTo>
                <a:cubicBezTo>
                  <a:pt x="14930249" y="4593285"/>
                  <a:pt x="15001411" y="4475448"/>
                  <a:pt x="15035078" y="4325474"/>
                </a:cubicBezTo>
                <a:lnTo>
                  <a:pt x="14617293" y="4325474"/>
                </a:lnTo>
                <a:cubicBezTo>
                  <a:pt x="14582095" y="4423417"/>
                  <a:pt x="14513993" y="4472388"/>
                  <a:pt x="14412991" y="4472388"/>
                </a:cubicBezTo>
                <a:cubicBezTo>
                  <a:pt x="14341065" y="4472388"/>
                  <a:pt x="14283677" y="4444459"/>
                  <a:pt x="14240826" y="4388601"/>
                </a:cubicBezTo>
                <a:cubicBezTo>
                  <a:pt x="14197976" y="4332743"/>
                  <a:pt x="14176551" y="4252782"/>
                  <a:pt x="14176551" y="4148719"/>
                </a:cubicBezTo>
                <a:cubicBezTo>
                  <a:pt x="14176551" y="4044655"/>
                  <a:pt x="14197976" y="3964694"/>
                  <a:pt x="14240826" y="3908836"/>
                </a:cubicBezTo>
                <a:cubicBezTo>
                  <a:pt x="14283677" y="3852979"/>
                  <a:pt x="14341065" y="3825050"/>
                  <a:pt x="14412991" y="3825050"/>
                </a:cubicBezTo>
                <a:cubicBezTo>
                  <a:pt x="14513993" y="3825050"/>
                  <a:pt x="14582095" y="3874021"/>
                  <a:pt x="14617293" y="3971963"/>
                </a:cubicBezTo>
                <a:lnTo>
                  <a:pt x="15035078" y="3971963"/>
                </a:lnTo>
                <a:cubicBezTo>
                  <a:pt x="15001411" y="3818928"/>
                  <a:pt x="14930632" y="3700326"/>
                  <a:pt x="14822742" y="3616157"/>
                </a:cubicBezTo>
                <a:cubicBezTo>
                  <a:pt x="14714852" y="3531988"/>
                  <a:pt x="14580564" y="3489903"/>
                  <a:pt x="14419877" y="3489903"/>
                </a:cubicBezTo>
                <a:close/>
                <a:moveTo>
                  <a:pt x="9909619" y="3489903"/>
                </a:moveTo>
                <a:cubicBezTo>
                  <a:pt x="9782600" y="3489903"/>
                  <a:pt x="9670119" y="3516684"/>
                  <a:pt x="9572177" y="3570247"/>
                </a:cubicBezTo>
                <a:cubicBezTo>
                  <a:pt x="9474234" y="3623809"/>
                  <a:pt x="9398099" y="3700326"/>
                  <a:pt x="9343772" y="3799799"/>
                </a:cubicBezTo>
                <a:cubicBezTo>
                  <a:pt x="9289444" y="3899272"/>
                  <a:pt x="9262280" y="4015578"/>
                  <a:pt x="9262280" y="4148719"/>
                </a:cubicBezTo>
                <a:cubicBezTo>
                  <a:pt x="9262280" y="4281859"/>
                  <a:pt x="9289827" y="4398166"/>
                  <a:pt x="9344920" y="4497639"/>
                </a:cubicBezTo>
                <a:cubicBezTo>
                  <a:pt x="9400012" y="4597111"/>
                  <a:pt x="9476530" y="4673629"/>
                  <a:pt x="9574472" y="4727191"/>
                </a:cubicBezTo>
                <a:cubicBezTo>
                  <a:pt x="9672414" y="4780753"/>
                  <a:pt x="9784130" y="4807534"/>
                  <a:pt x="9909619" y="4807534"/>
                </a:cubicBezTo>
                <a:cubicBezTo>
                  <a:pt x="10013682" y="4807534"/>
                  <a:pt x="10107800" y="4788405"/>
                  <a:pt x="10191969" y="4750146"/>
                </a:cubicBezTo>
                <a:cubicBezTo>
                  <a:pt x="10276137" y="4711888"/>
                  <a:pt x="10346151" y="4659090"/>
                  <a:pt x="10402009" y="4591755"/>
                </a:cubicBezTo>
                <a:cubicBezTo>
                  <a:pt x="10457867" y="4524420"/>
                  <a:pt x="10496508" y="4448667"/>
                  <a:pt x="10517933" y="4364498"/>
                </a:cubicBezTo>
                <a:lnTo>
                  <a:pt x="10100148" y="4364498"/>
                </a:lnTo>
                <a:cubicBezTo>
                  <a:pt x="10061889" y="4447137"/>
                  <a:pt x="9993788" y="4488456"/>
                  <a:pt x="9895846" y="4488456"/>
                </a:cubicBezTo>
                <a:cubicBezTo>
                  <a:pt x="9830040" y="4488456"/>
                  <a:pt x="9774565" y="4467414"/>
                  <a:pt x="9729420" y="4425329"/>
                </a:cubicBezTo>
                <a:cubicBezTo>
                  <a:pt x="9684274" y="4383245"/>
                  <a:pt x="9658642" y="4322414"/>
                  <a:pt x="9652520" y="4242835"/>
                </a:cubicBezTo>
                <a:lnTo>
                  <a:pt x="10540889" y="4242835"/>
                </a:lnTo>
                <a:cubicBezTo>
                  <a:pt x="10545480" y="4203046"/>
                  <a:pt x="10547775" y="4164788"/>
                  <a:pt x="10547775" y="4128059"/>
                </a:cubicBezTo>
                <a:cubicBezTo>
                  <a:pt x="10547775" y="3999510"/>
                  <a:pt x="10520611" y="3887029"/>
                  <a:pt x="10466284" y="3790617"/>
                </a:cubicBezTo>
                <a:cubicBezTo>
                  <a:pt x="10411956" y="3694205"/>
                  <a:pt x="10336587" y="3619983"/>
                  <a:pt x="10240174" y="3567951"/>
                </a:cubicBezTo>
                <a:cubicBezTo>
                  <a:pt x="10143762" y="3515919"/>
                  <a:pt x="10033577" y="3489903"/>
                  <a:pt x="9909619" y="3489903"/>
                </a:cubicBezTo>
                <a:close/>
                <a:moveTo>
                  <a:pt x="6918084" y="3489903"/>
                </a:moveTo>
                <a:cubicBezTo>
                  <a:pt x="6792595" y="3489903"/>
                  <a:pt x="6679349" y="3516684"/>
                  <a:pt x="6578346" y="3570247"/>
                </a:cubicBezTo>
                <a:cubicBezTo>
                  <a:pt x="6477343" y="3623809"/>
                  <a:pt x="6397765" y="3700709"/>
                  <a:pt x="6339612" y="3800947"/>
                </a:cubicBezTo>
                <a:cubicBezTo>
                  <a:pt x="6281458" y="3901185"/>
                  <a:pt x="6252381" y="4017109"/>
                  <a:pt x="6252381" y="4148719"/>
                </a:cubicBezTo>
                <a:cubicBezTo>
                  <a:pt x="6252381" y="4281859"/>
                  <a:pt x="6281076" y="4398166"/>
                  <a:pt x="6338463" y="4497639"/>
                </a:cubicBezTo>
                <a:cubicBezTo>
                  <a:pt x="6395852" y="4597111"/>
                  <a:pt x="6474665" y="4673629"/>
                  <a:pt x="6574903" y="4727191"/>
                </a:cubicBezTo>
                <a:cubicBezTo>
                  <a:pt x="6675141" y="4780753"/>
                  <a:pt x="6788004" y="4807534"/>
                  <a:pt x="6913493" y="4807534"/>
                </a:cubicBezTo>
                <a:cubicBezTo>
                  <a:pt x="7038981" y="4807534"/>
                  <a:pt x="7152610" y="4780753"/>
                  <a:pt x="7254378" y="4727191"/>
                </a:cubicBezTo>
                <a:cubicBezTo>
                  <a:pt x="7356147" y="4673629"/>
                  <a:pt x="7436490" y="4596729"/>
                  <a:pt x="7495408" y="4496491"/>
                </a:cubicBezTo>
                <a:cubicBezTo>
                  <a:pt x="7554327" y="4396253"/>
                  <a:pt x="7583786" y="4280329"/>
                  <a:pt x="7583786" y="4148719"/>
                </a:cubicBezTo>
                <a:cubicBezTo>
                  <a:pt x="7583786" y="4017109"/>
                  <a:pt x="7554709" y="3901185"/>
                  <a:pt x="7496555" y="3800947"/>
                </a:cubicBezTo>
                <a:cubicBezTo>
                  <a:pt x="7438403" y="3700709"/>
                  <a:pt x="7358824" y="3623809"/>
                  <a:pt x="7257822" y="3570247"/>
                </a:cubicBezTo>
                <a:cubicBezTo>
                  <a:pt x="7156819" y="3516684"/>
                  <a:pt x="7043572" y="3489903"/>
                  <a:pt x="6918084" y="3489903"/>
                </a:cubicBezTo>
                <a:close/>
                <a:moveTo>
                  <a:pt x="2797454" y="3159348"/>
                </a:moveTo>
                <a:cubicBezTo>
                  <a:pt x="2641359" y="3159348"/>
                  <a:pt x="2501714" y="3194163"/>
                  <a:pt x="2378521" y="3263794"/>
                </a:cubicBezTo>
                <a:cubicBezTo>
                  <a:pt x="2255328" y="3333425"/>
                  <a:pt x="2159298" y="3430602"/>
                  <a:pt x="2090432" y="3555326"/>
                </a:cubicBezTo>
                <a:cubicBezTo>
                  <a:pt x="2021567" y="3680049"/>
                  <a:pt x="1987134" y="3821989"/>
                  <a:pt x="1987134" y="3981146"/>
                </a:cubicBezTo>
                <a:cubicBezTo>
                  <a:pt x="1987134" y="4140302"/>
                  <a:pt x="2021567" y="4281859"/>
                  <a:pt x="2090432" y="4405817"/>
                </a:cubicBezTo>
                <a:cubicBezTo>
                  <a:pt x="2159298" y="4529776"/>
                  <a:pt x="2255328" y="4626571"/>
                  <a:pt x="2378521" y="4696201"/>
                </a:cubicBezTo>
                <a:cubicBezTo>
                  <a:pt x="2501714" y="4765832"/>
                  <a:pt x="2641359" y="4800648"/>
                  <a:pt x="2797454" y="4800648"/>
                </a:cubicBezTo>
                <a:cubicBezTo>
                  <a:pt x="2988748" y="4800648"/>
                  <a:pt x="3152496" y="4750529"/>
                  <a:pt x="3288697" y="4650291"/>
                </a:cubicBezTo>
                <a:cubicBezTo>
                  <a:pt x="3424898" y="4550053"/>
                  <a:pt x="3515954" y="4412704"/>
                  <a:pt x="3561864" y="4238244"/>
                </a:cubicBezTo>
                <a:lnTo>
                  <a:pt x="3130306" y="4238244"/>
                </a:lnTo>
                <a:cubicBezTo>
                  <a:pt x="3098168" y="4305580"/>
                  <a:pt x="3052640" y="4356846"/>
                  <a:pt x="2993722" y="4392044"/>
                </a:cubicBezTo>
                <a:cubicBezTo>
                  <a:pt x="2934803" y="4427242"/>
                  <a:pt x="2867850" y="4444841"/>
                  <a:pt x="2792863" y="4444841"/>
                </a:cubicBezTo>
                <a:cubicBezTo>
                  <a:pt x="2671966" y="4444841"/>
                  <a:pt x="2574023" y="4402757"/>
                  <a:pt x="2499036" y="4318588"/>
                </a:cubicBezTo>
                <a:cubicBezTo>
                  <a:pt x="2424049" y="4234418"/>
                  <a:pt x="2386555" y="4121938"/>
                  <a:pt x="2386555" y="3981146"/>
                </a:cubicBezTo>
                <a:cubicBezTo>
                  <a:pt x="2386555" y="3840353"/>
                  <a:pt x="2424049" y="3727873"/>
                  <a:pt x="2499036" y="3643703"/>
                </a:cubicBezTo>
                <a:cubicBezTo>
                  <a:pt x="2574023" y="3559534"/>
                  <a:pt x="2671966" y="3517449"/>
                  <a:pt x="2792863" y="3517449"/>
                </a:cubicBezTo>
                <a:cubicBezTo>
                  <a:pt x="2867850" y="3517449"/>
                  <a:pt x="2934803" y="3535049"/>
                  <a:pt x="2993722" y="3570247"/>
                </a:cubicBezTo>
                <a:cubicBezTo>
                  <a:pt x="3052640" y="3605444"/>
                  <a:pt x="3098168" y="3656711"/>
                  <a:pt x="3130306" y="3724047"/>
                </a:cubicBezTo>
                <a:lnTo>
                  <a:pt x="3561864" y="3724047"/>
                </a:lnTo>
                <a:cubicBezTo>
                  <a:pt x="3515954" y="3549587"/>
                  <a:pt x="3424898" y="3411855"/>
                  <a:pt x="3288697" y="3310852"/>
                </a:cubicBezTo>
                <a:cubicBezTo>
                  <a:pt x="3152496" y="3209849"/>
                  <a:pt x="2988748" y="3159348"/>
                  <a:pt x="2797454" y="3159348"/>
                </a:cubicBezTo>
                <a:close/>
                <a:moveTo>
                  <a:pt x="3806304" y="3090482"/>
                </a:moveTo>
                <a:lnTo>
                  <a:pt x="3806304" y="4789170"/>
                </a:lnTo>
                <a:lnTo>
                  <a:pt x="4198839" y="4789170"/>
                </a:lnTo>
                <a:lnTo>
                  <a:pt x="4198839" y="4093626"/>
                </a:lnTo>
                <a:cubicBezTo>
                  <a:pt x="4198839" y="4007927"/>
                  <a:pt x="4221030" y="3941356"/>
                  <a:pt x="4265409" y="3893916"/>
                </a:cubicBezTo>
                <a:cubicBezTo>
                  <a:pt x="4309790" y="3846475"/>
                  <a:pt x="4369474" y="3822754"/>
                  <a:pt x="4444461" y="3822754"/>
                </a:cubicBezTo>
                <a:cubicBezTo>
                  <a:pt x="4519447" y="3822754"/>
                  <a:pt x="4579131" y="3846475"/>
                  <a:pt x="4623512" y="3893916"/>
                </a:cubicBezTo>
                <a:cubicBezTo>
                  <a:pt x="4667892" y="3941356"/>
                  <a:pt x="4690082" y="4007927"/>
                  <a:pt x="4690082" y="4093626"/>
                </a:cubicBezTo>
                <a:lnTo>
                  <a:pt x="4690082" y="4789170"/>
                </a:lnTo>
                <a:lnTo>
                  <a:pt x="5080320" y="4789170"/>
                </a:lnTo>
                <a:lnTo>
                  <a:pt x="5080320" y="4040829"/>
                </a:lnTo>
                <a:cubicBezTo>
                  <a:pt x="5080320" y="3870960"/>
                  <a:pt x="5035940" y="3737437"/>
                  <a:pt x="4947181" y="3640260"/>
                </a:cubicBezTo>
                <a:cubicBezTo>
                  <a:pt x="4858420" y="3543083"/>
                  <a:pt x="4740583" y="3494494"/>
                  <a:pt x="4593670" y="3494494"/>
                </a:cubicBezTo>
                <a:cubicBezTo>
                  <a:pt x="4507970" y="3494494"/>
                  <a:pt x="4430687" y="3511328"/>
                  <a:pt x="4361821" y="3544996"/>
                </a:cubicBezTo>
                <a:cubicBezTo>
                  <a:pt x="4292955" y="3578664"/>
                  <a:pt x="4238628" y="3623809"/>
                  <a:pt x="4198839" y="3680432"/>
                </a:cubicBezTo>
                <a:lnTo>
                  <a:pt x="4198839" y="3090482"/>
                </a:lnTo>
                <a:close/>
                <a:moveTo>
                  <a:pt x="13376318" y="2950455"/>
                </a:moveTo>
                <a:cubicBezTo>
                  <a:pt x="13307453" y="2950455"/>
                  <a:pt x="13251213" y="2970732"/>
                  <a:pt x="13207597" y="3011286"/>
                </a:cubicBezTo>
                <a:cubicBezTo>
                  <a:pt x="13163983" y="3051840"/>
                  <a:pt x="13142176" y="3102724"/>
                  <a:pt x="13142176" y="3163938"/>
                </a:cubicBezTo>
                <a:cubicBezTo>
                  <a:pt x="13142176" y="3223622"/>
                  <a:pt x="13163983" y="3273741"/>
                  <a:pt x="13207597" y="3314296"/>
                </a:cubicBezTo>
                <a:cubicBezTo>
                  <a:pt x="13251213" y="3354850"/>
                  <a:pt x="13307453" y="3375127"/>
                  <a:pt x="13376318" y="3375127"/>
                </a:cubicBezTo>
                <a:cubicBezTo>
                  <a:pt x="13443654" y="3375127"/>
                  <a:pt x="13499130" y="3354850"/>
                  <a:pt x="13542744" y="3314296"/>
                </a:cubicBezTo>
                <a:cubicBezTo>
                  <a:pt x="13586359" y="3273741"/>
                  <a:pt x="13608167" y="3223622"/>
                  <a:pt x="13608167" y="3163938"/>
                </a:cubicBezTo>
                <a:cubicBezTo>
                  <a:pt x="13608167" y="3102724"/>
                  <a:pt x="13586359" y="3051840"/>
                  <a:pt x="13542744" y="3011286"/>
                </a:cubicBezTo>
                <a:cubicBezTo>
                  <a:pt x="13499130" y="2970732"/>
                  <a:pt x="13443655" y="2950455"/>
                  <a:pt x="13376318" y="2950455"/>
                </a:cubicBezTo>
                <a:close/>
                <a:moveTo>
                  <a:pt x="0" y="0"/>
                </a:moveTo>
                <a:lnTo>
                  <a:pt x="18288000" y="0"/>
                </a:lnTo>
                <a:lnTo>
                  <a:pt x="18288000" y="11087100"/>
                </a:lnTo>
                <a:lnTo>
                  <a:pt x="0" y="11087100"/>
                </a:lnTo>
                <a:close/>
              </a:path>
            </a:pathLst>
          </a:custGeom>
          <a:solidFill>
            <a:srgbClr val="4456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531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">
            <a:extLst>
              <a:ext uri="{FF2B5EF4-FFF2-40B4-BE49-F238E27FC236}">
                <a16:creationId xmlns:a16="http://schemas.microsoft.com/office/drawing/2014/main" id="{9462ABEE-7197-6641-4685-F16A75AB2959}"/>
              </a:ext>
            </a:extLst>
          </p:cNvPr>
          <p:cNvSpPr/>
          <p:nvPr/>
        </p:nvSpPr>
        <p:spPr>
          <a:xfrm>
            <a:off x="0" y="-1"/>
            <a:ext cx="18288000" cy="10477595"/>
          </a:xfrm>
          <a:custGeom>
            <a:avLst/>
            <a:gdLst/>
            <a:ahLst/>
            <a:cxnLst/>
            <a:rect l="l" t="t" r="r" b="b"/>
            <a:pathLst>
              <a:path w="22013892" h="12354774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467" b="-9467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DC477B1-6E61-CDD4-4838-40A1BD4C59C9}"/>
              </a:ext>
            </a:extLst>
          </p:cNvPr>
          <p:cNvSpPr/>
          <p:nvPr/>
        </p:nvSpPr>
        <p:spPr>
          <a:xfrm>
            <a:off x="0" y="0"/>
            <a:ext cx="18288000" cy="11087100"/>
          </a:xfrm>
          <a:custGeom>
            <a:avLst/>
            <a:gdLst/>
            <a:ahLst/>
            <a:cxnLst/>
            <a:rect l="l" t="t" r="r" b="b"/>
            <a:pathLst>
              <a:path w="18288000" h="11087100">
                <a:moveTo>
                  <a:pt x="6918084" y="3829641"/>
                </a:moveTo>
                <a:cubicBezTo>
                  <a:pt x="6993071" y="3829641"/>
                  <a:pt x="7056197" y="3857187"/>
                  <a:pt x="7107465" y="3912280"/>
                </a:cubicBezTo>
                <a:cubicBezTo>
                  <a:pt x="7158731" y="3967372"/>
                  <a:pt x="7184365" y="4046185"/>
                  <a:pt x="7184365" y="4148719"/>
                </a:cubicBezTo>
                <a:cubicBezTo>
                  <a:pt x="7184365" y="4251252"/>
                  <a:pt x="7157966" y="4330065"/>
                  <a:pt x="7105168" y="4385158"/>
                </a:cubicBezTo>
                <a:cubicBezTo>
                  <a:pt x="7052372" y="4440250"/>
                  <a:pt x="6988481" y="4467797"/>
                  <a:pt x="6913493" y="4467797"/>
                </a:cubicBezTo>
                <a:cubicBezTo>
                  <a:pt x="6838505" y="4467797"/>
                  <a:pt x="6776144" y="4440250"/>
                  <a:pt x="6726407" y="4385158"/>
                </a:cubicBezTo>
                <a:cubicBezTo>
                  <a:pt x="6676671" y="4330065"/>
                  <a:pt x="6651803" y="4251252"/>
                  <a:pt x="6651803" y="4148719"/>
                </a:cubicBezTo>
                <a:cubicBezTo>
                  <a:pt x="6651803" y="4044655"/>
                  <a:pt x="6677054" y="3965459"/>
                  <a:pt x="6727555" y="3911132"/>
                </a:cubicBezTo>
                <a:cubicBezTo>
                  <a:pt x="6778057" y="3856805"/>
                  <a:pt x="6841566" y="3829641"/>
                  <a:pt x="6918084" y="3829641"/>
                </a:cubicBezTo>
                <a:close/>
                <a:moveTo>
                  <a:pt x="9905028" y="3804390"/>
                </a:moveTo>
                <a:cubicBezTo>
                  <a:pt x="9973894" y="3804390"/>
                  <a:pt x="10031282" y="3824285"/>
                  <a:pt x="10077192" y="3864074"/>
                </a:cubicBezTo>
                <a:cubicBezTo>
                  <a:pt x="10123102" y="3903863"/>
                  <a:pt x="10146058" y="3957425"/>
                  <a:pt x="10146058" y="4024760"/>
                </a:cubicBezTo>
                <a:lnTo>
                  <a:pt x="9654816" y="4024760"/>
                </a:lnTo>
                <a:cubicBezTo>
                  <a:pt x="9665528" y="3954364"/>
                  <a:pt x="9693456" y="3900037"/>
                  <a:pt x="9738602" y="3861778"/>
                </a:cubicBezTo>
                <a:cubicBezTo>
                  <a:pt x="9783747" y="3823520"/>
                  <a:pt x="9839222" y="3804390"/>
                  <a:pt x="9905028" y="3804390"/>
                </a:cubicBezTo>
                <a:close/>
                <a:moveTo>
                  <a:pt x="13178904" y="3508267"/>
                </a:moveTo>
                <a:lnTo>
                  <a:pt x="13178904" y="4789170"/>
                </a:lnTo>
                <a:lnTo>
                  <a:pt x="13571439" y="4789170"/>
                </a:lnTo>
                <a:lnTo>
                  <a:pt x="13571439" y="3508267"/>
                </a:lnTo>
                <a:close/>
                <a:moveTo>
                  <a:pt x="11516734" y="3494494"/>
                </a:moveTo>
                <a:cubicBezTo>
                  <a:pt x="11435625" y="3494494"/>
                  <a:pt x="11362934" y="3510180"/>
                  <a:pt x="11298659" y="3541552"/>
                </a:cubicBezTo>
                <a:cubicBezTo>
                  <a:pt x="11234385" y="3572925"/>
                  <a:pt x="11182352" y="3615392"/>
                  <a:pt x="11142564" y="3668954"/>
                </a:cubicBezTo>
                <a:lnTo>
                  <a:pt x="11142564" y="3508267"/>
                </a:lnTo>
                <a:lnTo>
                  <a:pt x="10750029" y="3508267"/>
                </a:lnTo>
                <a:lnTo>
                  <a:pt x="10750029" y="4789170"/>
                </a:lnTo>
                <a:lnTo>
                  <a:pt x="11142564" y="4789170"/>
                </a:lnTo>
                <a:lnTo>
                  <a:pt x="11142564" y="4093626"/>
                </a:lnTo>
                <a:cubicBezTo>
                  <a:pt x="11142564" y="4010987"/>
                  <a:pt x="11164371" y="3947095"/>
                  <a:pt x="11207986" y="3901950"/>
                </a:cubicBezTo>
                <a:cubicBezTo>
                  <a:pt x="11251601" y="3856805"/>
                  <a:pt x="11311667" y="3834232"/>
                  <a:pt x="11388185" y="3834232"/>
                </a:cubicBezTo>
                <a:cubicBezTo>
                  <a:pt x="11464701" y="3834232"/>
                  <a:pt x="11524769" y="3856805"/>
                  <a:pt x="11568383" y="3901950"/>
                </a:cubicBezTo>
                <a:cubicBezTo>
                  <a:pt x="11611998" y="3947095"/>
                  <a:pt x="11633806" y="4010987"/>
                  <a:pt x="11633806" y="4093626"/>
                </a:cubicBezTo>
                <a:lnTo>
                  <a:pt x="11633806" y="4789170"/>
                </a:lnTo>
                <a:lnTo>
                  <a:pt x="12024045" y="4789170"/>
                </a:lnTo>
                <a:lnTo>
                  <a:pt x="12024045" y="4093626"/>
                </a:lnTo>
                <a:cubicBezTo>
                  <a:pt x="12024045" y="4010987"/>
                  <a:pt x="12045853" y="3947095"/>
                  <a:pt x="12089468" y="3901950"/>
                </a:cubicBezTo>
                <a:cubicBezTo>
                  <a:pt x="12133083" y="3856805"/>
                  <a:pt x="12193149" y="3834232"/>
                  <a:pt x="12269666" y="3834232"/>
                </a:cubicBezTo>
                <a:cubicBezTo>
                  <a:pt x="12346184" y="3834232"/>
                  <a:pt x="12406250" y="3856805"/>
                  <a:pt x="12449865" y="3901950"/>
                </a:cubicBezTo>
                <a:cubicBezTo>
                  <a:pt x="12493480" y="3947095"/>
                  <a:pt x="12515287" y="4010987"/>
                  <a:pt x="12515287" y="4093626"/>
                </a:cubicBezTo>
                <a:lnTo>
                  <a:pt x="12515287" y="4789170"/>
                </a:lnTo>
                <a:lnTo>
                  <a:pt x="12905526" y="4789170"/>
                </a:lnTo>
                <a:lnTo>
                  <a:pt x="12905526" y="4040829"/>
                </a:lnTo>
                <a:cubicBezTo>
                  <a:pt x="12905526" y="3869430"/>
                  <a:pt x="12858469" y="3735524"/>
                  <a:pt x="12764352" y="3639112"/>
                </a:cubicBezTo>
                <a:cubicBezTo>
                  <a:pt x="12670236" y="3542700"/>
                  <a:pt x="12543599" y="3494494"/>
                  <a:pt x="12384443" y="3494494"/>
                </a:cubicBezTo>
                <a:cubicBezTo>
                  <a:pt x="12294152" y="3494494"/>
                  <a:pt x="12210748" y="3516684"/>
                  <a:pt x="12134230" y="3561065"/>
                </a:cubicBezTo>
                <a:cubicBezTo>
                  <a:pt x="12057713" y="3605444"/>
                  <a:pt x="11997264" y="3662833"/>
                  <a:pt x="11952884" y="3733229"/>
                </a:cubicBezTo>
                <a:cubicBezTo>
                  <a:pt x="11910034" y="3656711"/>
                  <a:pt x="11850732" y="3597793"/>
                  <a:pt x="11774980" y="3556473"/>
                </a:cubicBezTo>
                <a:cubicBezTo>
                  <a:pt x="11699229" y="3515154"/>
                  <a:pt x="11613146" y="3494494"/>
                  <a:pt x="11516734" y="3494494"/>
                </a:cubicBezTo>
                <a:close/>
                <a:moveTo>
                  <a:pt x="8577758" y="3494494"/>
                </a:moveTo>
                <a:cubicBezTo>
                  <a:pt x="8493588" y="3494494"/>
                  <a:pt x="8417836" y="3510945"/>
                  <a:pt x="8350500" y="3543848"/>
                </a:cubicBezTo>
                <a:cubicBezTo>
                  <a:pt x="8283166" y="3576751"/>
                  <a:pt x="8229603" y="3621513"/>
                  <a:pt x="8189814" y="3678136"/>
                </a:cubicBezTo>
                <a:lnTo>
                  <a:pt x="8189814" y="3508267"/>
                </a:lnTo>
                <a:lnTo>
                  <a:pt x="7797279" y="3508267"/>
                </a:lnTo>
                <a:lnTo>
                  <a:pt x="7797279" y="4789170"/>
                </a:lnTo>
                <a:lnTo>
                  <a:pt x="8189814" y="4789170"/>
                </a:lnTo>
                <a:lnTo>
                  <a:pt x="8189814" y="4093626"/>
                </a:lnTo>
                <a:cubicBezTo>
                  <a:pt x="8189814" y="4007927"/>
                  <a:pt x="8212004" y="3941356"/>
                  <a:pt x="8256384" y="3893916"/>
                </a:cubicBezTo>
                <a:cubicBezTo>
                  <a:pt x="8300765" y="3846475"/>
                  <a:pt x="8360448" y="3822754"/>
                  <a:pt x="8435434" y="3822754"/>
                </a:cubicBezTo>
                <a:cubicBezTo>
                  <a:pt x="8510422" y="3822754"/>
                  <a:pt x="8570106" y="3846475"/>
                  <a:pt x="8614486" y="3893916"/>
                </a:cubicBezTo>
                <a:cubicBezTo>
                  <a:pt x="8658866" y="3941356"/>
                  <a:pt x="8681056" y="4007927"/>
                  <a:pt x="8681056" y="4093626"/>
                </a:cubicBezTo>
                <a:lnTo>
                  <a:pt x="8681056" y="4789170"/>
                </a:lnTo>
                <a:lnTo>
                  <a:pt x="9071295" y="4789170"/>
                </a:lnTo>
                <a:lnTo>
                  <a:pt x="9071295" y="4040829"/>
                </a:lnTo>
                <a:cubicBezTo>
                  <a:pt x="9071295" y="3870960"/>
                  <a:pt x="9026532" y="3737437"/>
                  <a:pt x="8937007" y="3640260"/>
                </a:cubicBezTo>
                <a:cubicBezTo>
                  <a:pt x="8847482" y="3543083"/>
                  <a:pt x="8727732" y="3494494"/>
                  <a:pt x="8577758" y="3494494"/>
                </a:cubicBezTo>
                <a:close/>
                <a:moveTo>
                  <a:pt x="6143606" y="3494494"/>
                </a:moveTo>
                <a:cubicBezTo>
                  <a:pt x="6059437" y="3494494"/>
                  <a:pt x="5982919" y="3514771"/>
                  <a:pt x="5914053" y="3555326"/>
                </a:cubicBezTo>
                <a:cubicBezTo>
                  <a:pt x="5845188" y="3595880"/>
                  <a:pt x="5787799" y="3651355"/>
                  <a:pt x="5741890" y="3721751"/>
                </a:cubicBezTo>
                <a:lnTo>
                  <a:pt x="5741890" y="3508267"/>
                </a:lnTo>
                <a:lnTo>
                  <a:pt x="5349355" y="3508267"/>
                </a:lnTo>
                <a:lnTo>
                  <a:pt x="5349355" y="4789170"/>
                </a:lnTo>
                <a:lnTo>
                  <a:pt x="5741890" y="4789170"/>
                </a:lnTo>
                <a:lnTo>
                  <a:pt x="5741890" y="4194629"/>
                </a:lnTo>
                <a:cubicBezTo>
                  <a:pt x="5741890" y="4089035"/>
                  <a:pt x="5766375" y="4015196"/>
                  <a:pt x="5815346" y="3973111"/>
                </a:cubicBezTo>
                <a:cubicBezTo>
                  <a:pt x="5864317" y="3931026"/>
                  <a:pt x="5937774" y="3909984"/>
                  <a:pt x="6035716" y="3909984"/>
                </a:cubicBezTo>
                <a:lnTo>
                  <a:pt x="6143606" y="3909984"/>
                </a:lnTo>
                <a:close/>
                <a:moveTo>
                  <a:pt x="15739367" y="3489903"/>
                </a:moveTo>
                <a:cubicBezTo>
                  <a:pt x="15630712" y="3489903"/>
                  <a:pt x="15536977" y="3507502"/>
                  <a:pt x="15458165" y="3542700"/>
                </a:cubicBezTo>
                <a:cubicBezTo>
                  <a:pt x="15379352" y="3577898"/>
                  <a:pt x="15319668" y="3625722"/>
                  <a:pt x="15279114" y="3686171"/>
                </a:cubicBezTo>
                <a:cubicBezTo>
                  <a:pt x="15238559" y="3746619"/>
                  <a:pt x="15218283" y="3813572"/>
                  <a:pt x="15218283" y="3887029"/>
                </a:cubicBezTo>
                <a:cubicBezTo>
                  <a:pt x="15218283" y="3974259"/>
                  <a:pt x="15240472" y="4043507"/>
                  <a:pt x="15284853" y="4094774"/>
                </a:cubicBezTo>
                <a:cubicBezTo>
                  <a:pt x="15329233" y="4146041"/>
                  <a:pt x="15382030" y="4183534"/>
                  <a:pt x="15443245" y="4207255"/>
                </a:cubicBezTo>
                <a:cubicBezTo>
                  <a:pt x="15504458" y="4230975"/>
                  <a:pt x="15580976" y="4253548"/>
                  <a:pt x="15672797" y="4274973"/>
                </a:cubicBezTo>
                <a:cubicBezTo>
                  <a:pt x="15758495" y="4296398"/>
                  <a:pt x="15820475" y="4315909"/>
                  <a:pt x="15858734" y="4333508"/>
                </a:cubicBezTo>
                <a:cubicBezTo>
                  <a:pt x="15896992" y="4351108"/>
                  <a:pt x="15916123" y="4378271"/>
                  <a:pt x="15916123" y="4415000"/>
                </a:cubicBezTo>
                <a:cubicBezTo>
                  <a:pt x="15916123" y="4445607"/>
                  <a:pt x="15902732" y="4470475"/>
                  <a:pt x="15875951" y="4489604"/>
                </a:cubicBezTo>
                <a:cubicBezTo>
                  <a:pt x="15849169" y="4508734"/>
                  <a:pt x="15811293" y="4518298"/>
                  <a:pt x="15762322" y="4518298"/>
                </a:cubicBezTo>
                <a:cubicBezTo>
                  <a:pt x="15708760" y="4518298"/>
                  <a:pt x="15663615" y="4504525"/>
                  <a:pt x="15626886" y="4476979"/>
                </a:cubicBezTo>
                <a:cubicBezTo>
                  <a:pt x="15590158" y="4449433"/>
                  <a:pt x="15569499" y="4413469"/>
                  <a:pt x="15564907" y="4369089"/>
                </a:cubicBezTo>
                <a:lnTo>
                  <a:pt x="15176963" y="4369089"/>
                </a:lnTo>
                <a:cubicBezTo>
                  <a:pt x="15183085" y="4451728"/>
                  <a:pt x="15211396" y="4526333"/>
                  <a:pt x="15261898" y="4592903"/>
                </a:cubicBezTo>
                <a:cubicBezTo>
                  <a:pt x="15312399" y="4659473"/>
                  <a:pt x="15381265" y="4711888"/>
                  <a:pt x="15468495" y="4750146"/>
                </a:cubicBezTo>
                <a:cubicBezTo>
                  <a:pt x="15555725" y="4788405"/>
                  <a:pt x="15655197" y="4807534"/>
                  <a:pt x="15766913" y="4807534"/>
                </a:cubicBezTo>
                <a:cubicBezTo>
                  <a:pt x="15870977" y="4807534"/>
                  <a:pt x="15962415" y="4790700"/>
                  <a:pt x="16041229" y="4757033"/>
                </a:cubicBezTo>
                <a:cubicBezTo>
                  <a:pt x="16120040" y="4723365"/>
                  <a:pt x="16180490" y="4677072"/>
                  <a:pt x="16222575" y="4618154"/>
                </a:cubicBezTo>
                <a:cubicBezTo>
                  <a:pt x="16264658" y="4559235"/>
                  <a:pt x="16285702" y="4492282"/>
                  <a:pt x="16285702" y="4417295"/>
                </a:cubicBezTo>
                <a:cubicBezTo>
                  <a:pt x="16284171" y="4328535"/>
                  <a:pt x="16260833" y="4257756"/>
                  <a:pt x="16215688" y="4204959"/>
                </a:cubicBezTo>
                <a:cubicBezTo>
                  <a:pt x="16170542" y="4152162"/>
                  <a:pt x="16118129" y="4113903"/>
                  <a:pt x="16058445" y="4090183"/>
                </a:cubicBezTo>
                <a:cubicBezTo>
                  <a:pt x="15998762" y="4066463"/>
                  <a:pt x="15921478" y="4042359"/>
                  <a:pt x="15826597" y="4017874"/>
                </a:cubicBezTo>
                <a:cubicBezTo>
                  <a:pt x="15743958" y="3999510"/>
                  <a:pt x="15683126" y="3981146"/>
                  <a:pt x="15644102" y="3962781"/>
                </a:cubicBezTo>
                <a:cubicBezTo>
                  <a:pt x="15605079" y="3944417"/>
                  <a:pt x="15585567" y="3916871"/>
                  <a:pt x="15585567" y="3880142"/>
                </a:cubicBezTo>
                <a:cubicBezTo>
                  <a:pt x="15585567" y="3849535"/>
                  <a:pt x="15597808" y="3825433"/>
                  <a:pt x="15622295" y="3807834"/>
                </a:cubicBezTo>
                <a:cubicBezTo>
                  <a:pt x="15646780" y="3790234"/>
                  <a:pt x="15681979" y="3781435"/>
                  <a:pt x="15727889" y="3781435"/>
                </a:cubicBezTo>
                <a:cubicBezTo>
                  <a:pt x="15781451" y="3781435"/>
                  <a:pt x="15824684" y="3794443"/>
                  <a:pt x="15857587" y="3820459"/>
                </a:cubicBezTo>
                <a:cubicBezTo>
                  <a:pt x="15890488" y="3846475"/>
                  <a:pt x="15910000" y="3881673"/>
                  <a:pt x="15916123" y="3926053"/>
                </a:cubicBezTo>
                <a:lnTo>
                  <a:pt x="16278816" y="3926053"/>
                </a:lnTo>
                <a:cubicBezTo>
                  <a:pt x="16265042" y="3794443"/>
                  <a:pt x="16211862" y="3688849"/>
                  <a:pt x="16119277" y="3609271"/>
                </a:cubicBezTo>
                <a:cubicBezTo>
                  <a:pt x="16026689" y="3529692"/>
                  <a:pt x="15900054" y="3489903"/>
                  <a:pt x="15739367" y="3489903"/>
                </a:cubicBezTo>
                <a:close/>
                <a:moveTo>
                  <a:pt x="14419877" y="3489903"/>
                </a:moveTo>
                <a:cubicBezTo>
                  <a:pt x="14294389" y="3489903"/>
                  <a:pt x="14183056" y="3516684"/>
                  <a:pt x="14085879" y="3570247"/>
                </a:cubicBezTo>
                <a:cubicBezTo>
                  <a:pt x="13988702" y="3623809"/>
                  <a:pt x="13912950" y="3700326"/>
                  <a:pt x="13858622" y="3799799"/>
                </a:cubicBezTo>
                <a:cubicBezTo>
                  <a:pt x="13804295" y="3899272"/>
                  <a:pt x="13777130" y="4015578"/>
                  <a:pt x="13777130" y="4148719"/>
                </a:cubicBezTo>
                <a:cubicBezTo>
                  <a:pt x="13777130" y="4281859"/>
                  <a:pt x="13804295" y="4398166"/>
                  <a:pt x="13858622" y="4497639"/>
                </a:cubicBezTo>
                <a:cubicBezTo>
                  <a:pt x="13912950" y="4597111"/>
                  <a:pt x="13988702" y="4673629"/>
                  <a:pt x="14085879" y="4727191"/>
                </a:cubicBezTo>
                <a:cubicBezTo>
                  <a:pt x="14183056" y="4780753"/>
                  <a:pt x="14294389" y="4807534"/>
                  <a:pt x="14419877" y="4807534"/>
                </a:cubicBezTo>
                <a:cubicBezTo>
                  <a:pt x="14579035" y="4807534"/>
                  <a:pt x="14712940" y="4764685"/>
                  <a:pt x="14821594" y="4678985"/>
                </a:cubicBezTo>
                <a:cubicBezTo>
                  <a:pt x="14930249" y="4593285"/>
                  <a:pt x="15001411" y="4475448"/>
                  <a:pt x="15035078" y="4325474"/>
                </a:cubicBezTo>
                <a:lnTo>
                  <a:pt x="14617293" y="4325474"/>
                </a:lnTo>
                <a:cubicBezTo>
                  <a:pt x="14582095" y="4423417"/>
                  <a:pt x="14513993" y="4472388"/>
                  <a:pt x="14412991" y="4472388"/>
                </a:cubicBezTo>
                <a:cubicBezTo>
                  <a:pt x="14341065" y="4472388"/>
                  <a:pt x="14283677" y="4444459"/>
                  <a:pt x="14240826" y="4388601"/>
                </a:cubicBezTo>
                <a:cubicBezTo>
                  <a:pt x="14197976" y="4332743"/>
                  <a:pt x="14176551" y="4252782"/>
                  <a:pt x="14176551" y="4148719"/>
                </a:cubicBezTo>
                <a:cubicBezTo>
                  <a:pt x="14176551" y="4044655"/>
                  <a:pt x="14197976" y="3964694"/>
                  <a:pt x="14240826" y="3908836"/>
                </a:cubicBezTo>
                <a:cubicBezTo>
                  <a:pt x="14283677" y="3852979"/>
                  <a:pt x="14341065" y="3825050"/>
                  <a:pt x="14412991" y="3825050"/>
                </a:cubicBezTo>
                <a:cubicBezTo>
                  <a:pt x="14513993" y="3825050"/>
                  <a:pt x="14582095" y="3874021"/>
                  <a:pt x="14617293" y="3971963"/>
                </a:cubicBezTo>
                <a:lnTo>
                  <a:pt x="15035078" y="3971963"/>
                </a:lnTo>
                <a:cubicBezTo>
                  <a:pt x="15001411" y="3818928"/>
                  <a:pt x="14930632" y="3700326"/>
                  <a:pt x="14822742" y="3616157"/>
                </a:cubicBezTo>
                <a:cubicBezTo>
                  <a:pt x="14714852" y="3531988"/>
                  <a:pt x="14580564" y="3489903"/>
                  <a:pt x="14419877" y="3489903"/>
                </a:cubicBezTo>
                <a:close/>
                <a:moveTo>
                  <a:pt x="9909619" y="3489903"/>
                </a:moveTo>
                <a:cubicBezTo>
                  <a:pt x="9782600" y="3489903"/>
                  <a:pt x="9670119" y="3516684"/>
                  <a:pt x="9572177" y="3570247"/>
                </a:cubicBezTo>
                <a:cubicBezTo>
                  <a:pt x="9474234" y="3623809"/>
                  <a:pt x="9398099" y="3700326"/>
                  <a:pt x="9343772" y="3799799"/>
                </a:cubicBezTo>
                <a:cubicBezTo>
                  <a:pt x="9289444" y="3899272"/>
                  <a:pt x="9262280" y="4015578"/>
                  <a:pt x="9262280" y="4148719"/>
                </a:cubicBezTo>
                <a:cubicBezTo>
                  <a:pt x="9262280" y="4281859"/>
                  <a:pt x="9289827" y="4398166"/>
                  <a:pt x="9344920" y="4497639"/>
                </a:cubicBezTo>
                <a:cubicBezTo>
                  <a:pt x="9400012" y="4597111"/>
                  <a:pt x="9476530" y="4673629"/>
                  <a:pt x="9574472" y="4727191"/>
                </a:cubicBezTo>
                <a:cubicBezTo>
                  <a:pt x="9672414" y="4780753"/>
                  <a:pt x="9784130" y="4807534"/>
                  <a:pt x="9909619" y="4807534"/>
                </a:cubicBezTo>
                <a:cubicBezTo>
                  <a:pt x="10013682" y="4807534"/>
                  <a:pt x="10107800" y="4788405"/>
                  <a:pt x="10191969" y="4750146"/>
                </a:cubicBezTo>
                <a:cubicBezTo>
                  <a:pt x="10276137" y="4711888"/>
                  <a:pt x="10346151" y="4659090"/>
                  <a:pt x="10402009" y="4591755"/>
                </a:cubicBezTo>
                <a:cubicBezTo>
                  <a:pt x="10457867" y="4524420"/>
                  <a:pt x="10496508" y="4448667"/>
                  <a:pt x="10517933" y="4364498"/>
                </a:cubicBezTo>
                <a:lnTo>
                  <a:pt x="10100148" y="4364498"/>
                </a:lnTo>
                <a:cubicBezTo>
                  <a:pt x="10061889" y="4447137"/>
                  <a:pt x="9993788" y="4488456"/>
                  <a:pt x="9895846" y="4488456"/>
                </a:cubicBezTo>
                <a:cubicBezTo>
                  <a:pt x="9830040" y="4488456"/>
                  <a:pt x="9774565" y="4467414"/>
                  <a:pt x="9729420" y="4425329"/>
                </a:cubicBezTo>
                <a:cubicBezTo>
                  <a:pt x="9684274" y="4383245"/>
                  <a:pt x="9658642" y="4322414"/>
                  <a:pt x="9652520" y="4242835"/>
                </a:cubicBezTo>
                <a:lnTo>
                  <a:pt x="10540889" y="4242835"/>
                </a:lnTo>
                <a:cubicBezTo>
                  <a:pt x="10545480" y="4203046"/>
                  <a:pt x="10547775" y="4164788"/>
                  <a:pt x="10547775" y="4128059"/>
                </a:cubicBezTo>
                <a:cubicBezTo>
                  <a:pt x="10547775" y="3999510"/>
                  <a:pt x="10520611" y="3887029"/>
                  <a:pt x="10466284" y="3790617"/>
                </a:cubicBezTo>
                <a:cubicBezTo>
                  <a:pt x="10411956" y="3694205"/>
                  <a:pt x="10336587" y="3619983"/>
                  <a:pt x="10240174" y="3567951"/>
                </a:cubicBezTo>
                <a:cubicBezTo>
                  <a:pt x="10143762" y="3515919"/>
                  <a:pt x="10033577" y="3489903"/>
                  <a:pt x="9909619" y="3489903"/>
                </a:cubicBezTo>
                <a:close/>
                <a:moveTo>
                  <a:pt x="6918084" y="3489903"/>
                </a:moveTo>
                <a:cubicBezTo>
                  <a:pt x="6792595" y="3489903"/>
                  <a:pt x="6679349" y="3516684"/>
                  <a:pt x="6578346" y="3570247"/>
                </a:cubicBezTo>
                <a:cubicBezTo>
                  <a:pt x="6477343" y="3623809"/>
                  <a:pt x="6397765" y="3700709"/>
                  <a:pt x="6339612" y="3800947"/>
                </a:cubicBezTo>
                <a:cubicBezTo>
                  <a:pt x="6281458" y="3901185"/>
                  <a:pt x="6252381" y="4017109"/>
                  <a:pt x="6252381" y="4148719"/>
                </a:cubicBezTo>
                <a:cubicBezTo>
                  <a:pt x="6252381" y="4281859"/>
                  <a:pt x="6281076" y="4398166"/>
                  <a:pt x="6338463" y="4497639"/>
                </a:cubicBezTo>
                <a:cubicBezTo>
                  <a:pt x="6395852" y="4597111"/>
                  <a:pt x="6474665" y="4673629"/>
                  <a:pt x="6574903" y="4727191"/>
                </a:cubicBezTo>
                <a:cubicBezTo>
                  <a:pt x="6675141" y="4780753"/>
                  <a:pt x="6788004" y="4807534"/>
                  <a:pt x="6913493" y="4807534"/>
                </a:cubicBezTo>
                <a:cubicBezTo>
                  <a:pt x="7038981" y="4807534"/>
                  <a:pt x="7152610" y="4780753"/>
                  <a:pt x="7254378" y="4727191"/>
                </a:cubicBezTo>
                <a:cubicBezTo>
                  <a:pt x="7356147" y="4673629"/>
                  <a:pt x="7436490" y="4596729"/>
                  <a:pt x="7495408" y="4496491"/>
                </a:cubicBezTo>
                <a:cubicBezTo>
                  <a:pt x="7554327" y="4396253"/>
                  <a:pt x="7583786" y="4280329"/>
                  <a:pt x="7583786" y="4148719"/>
                </a:cubicBezTo>
                <a:cubicBezTo>
                  <a:pt x="7583786" y="4017109"/>
                  <a:pt x="7554709" y="3901185"/>
                  <a:pt x="7496555" y="3800947"/>
                </a:cubicBezTo>
                <a:cubicBezTo>
                  <a:pt x="7438403" y="3700709"/>
                  <a:pt x="7358824" y="3623809"/>
                  <a:pt x="7257822" y="3570247"/>
                </a:cubicBezTo>
                <a:cubicBezTo>
                  <a:pt x="7156819" y="3516684"/>
                  <a:pt x="7043572" y="3489903"/>
                  <a:pt x="6918084" y="3489903"/>
                </a:cubicBezTo>
                <a:close/>
                <a:moveTo>
                  <a:pt x="2797454" y="3159348"/>
                </a:moveTo>
                <a:cubicBezTo>
                  <a:pt x="2641359" y="3159348"/>
                  <a:pt x="2501714" y="3194163"/>
                  <a:pt x="2378521" y="3263794"/>
                </a:cubicBezTo>
                <a:cubicBezTo>
                  <a:pt x="2255328" y="3333425"/>
                  <a:pt x="2159298" y="3430602"/>
                  <a:pt x="2090432" y="3555326"/>
                </a:cubicBezTo>
                <a:cubicBezTo>
                  <a:pt x="2021567" y="3680049"/>
                  <a:pt x="1987134" y="3821989"/>
                  <a:pt x="1987134" y="3981146"/>
                </a:cubicBezTo>
                <a:cubicBezTo>
                  <a:pt x="1987134" y="4140302"/>
                  <a:pt x="2021567" y="4281859"/>
                  <a:pt x="2090432" y="4405817"/>
                </a:cubicBezTo>
                <a:cubicBezTo>
                  <a:pt x="2159298" y="4529776"/>
                  <a:pt x="2255328" y="4626571"/>
                  <a:pt x="2378521" y="4696201"/>
                </a:cubicBezTo>
                <a:cubicBezTo>
                  <a:pt x="2501714" y="4765832"/>
                  <a:pt x="2641359" y="4800648"/>
                  <a:pt x="2797454" y="4800648"/>
                </a:cubicBezTo>
                <a:cubicBezTo>
                  <a:pt x="2988748" y="4800648"/>
                  <a:pt x="3152496" y="4750529"/>
                  <a:pt x="3288697" y="4650291"/>
                </a:cubicBezTo>
                <a:cubicBezTo>
                  <a:pt x="3424898" y="4550053"/>
                  <a:pt x="3515954" y="4412704"/>
                  <a:pt x="3561864" y="4238244"/>
                </a:cubicBezTo>
                <a:lnTo>
                  <a:pt x="3130306" y="4238244"/>
                </a:lnTo>
                <a:cubicBezTo>
                  <a:pt x="3098168" y="4305580"/>
                  <a:pt x="3052640" y="4356846"/>
                  <a:pt x="2993722" y="4392044"/>
                </a:cubicBezTo>
                <a:cubicBezTo>
                  <a:pt x="2934803" y="4427242"/>
                  <a:pt x="2867850" y="4444841"/>
                  <a:pt x="2792863" y="4444841"/>
                </a:cubicBezTo>
                <a:cubicBezTo>
                  <a:pt x="2671966" y="4444841"/>
                  <a:pt x="2574023" y="4402757"/>
                  <a:pt x="2499036" y="4318588"/>
                </a:cubicBezTo>
                <a:cubicBezTo>
                  <a:pt x="2424049" y="4234418"/>
                  <a:pt x="2386555" y="4121938"/>
                  <a:pt x="2386555" y="3981146"/>
                </a:cubicBezTo>
                <a:cubicBezTo>
                  <a:pt x="2386555" y="3840353"/>
                  <a:pt x="2424049" y="3727873"/>
                  <a:pt x="2499036" y="3643703"/>
                </a:cubicBezTo>
                <a:cubicBezTo>
                  <a:pt x="2574023" y="3559534"/>
                  <a:pt x="2671966" y="3517449"/>
                  <a:pt x="2792863" y="3517449"/>
                </a:cubicBezTo>
                <a:cubicBezTo>
                  <a:pt x="2867850" y="3517449"/>
                  <a:pt x="2934803" y="3535049"/>
                  <a:pt x="2993722" y="3570247"/>
                </a:cubicBezTo>
                <a:cubicBezTo>
                  <a:pt x="3052640" y="3605444"/>
                  <a:pt x="3098168" y="3656711"/>
                  <a:pt x="3130306" y="3724047"/>
                </a:cubicBezTo>
                <a:lnTo>
                  <a:pt x="3561864" y="3724047"/>
                </a:lnTo>
                <a:cubicBezTo>
                  <a:pt x="3515954" y="3549587"/>
                  <a:pt x="3424898" y="3411855"/>
                  <a:pt x="3288697" y="3310852"/>
                </a:cubicBezTo>
                <a:cubicBezTo>
                  <a:pt x="3152496" y="3209849"/>
                  <a:pt x="2988748" y="3159348"/>
                  <a:pt x="2797454" y="3159348"/>
                </a:cubicBezTo>
                <a:close/>
                <a:moveTo>
                  <a:pt x="3806304" y="3090482"/>
                </a:moveTo>
                <a:lnTo>
                  <a:pt x="3806304" y="4789170"/>
                </a:lnTo>
                <a:lnTo>
                  <a:pt x="4198839" y="4789170"/>
                </a:lnTo>
                <a:lnTo>
                  <a:pt x="4198839" y="4093626"/>
                </a:lnTo>
                <a:cubicBezTo>
                  <a:pt x="4198839" y="4007927"/>
                  <a:pt x="4221030" y="3941356"/>
                  <a:pt x="4265409" y="3893916"/>
                </a:cubicBezTo>
                <a:cubicBezTo>
                  <a:pt x="4309790" y="3846475"/>
                  <a:pt x="4369474" y="3822754"/>
                  <a:pt x="4444461" y="3822754"/>
                </a:cubicBezTo>
                <a:cubicBezTo>
                  <a:pt x="4519447" y="3822754"/>
                  <a:pt x="4579131" y="3846475"/>
                  <a:pt x="4623512" y="3893916"/>
                </a:cubicBezTo>
                <a:cubicBezTo>
                  <a:pt x="4667892" y="3941356"/>
                  <a:pt x="4690082" y="4007927"/>
                  <a:pt x="4690082" y="4093626"/>
                </a:cubicBezTo>
                <a:lnTo>
                  <a:pt x="4690082" y="4789170"/>
                </a:lnTo>
                <a:lnTo>
                  <a:pt x="5080320" y="4789170"/>
                </a:lnTo>
                <a:lnTo>
                  <a:pt x="5080320" y="4040829"/>
                </a:lnTo>
                <a:cubicBezTo>
                  <a:pt x="5080320" y="3870960"/>
                  <a:pt x="5035940" y="3737437"/>
                  <a:pt x="4947181" y="3640260"/>
                </a:cubicBezTo>
                <a:cubicBezTo>
                  <a:pt x="4858420" y="3543083"/>
                  <a:pt x="4740583" y="3494494"/>
                  <a:pt x="4593670" y="3494494"/>
                </a:cubicBezTo>
                <a:cubicBezTo>
                  <a:pt x="4507970" y="3494494"/>
                  <a:pt x="4430687" y="3511328"/>
                  <a:pt x="4361821" y="3544996"/>
                </a:cubicBezTo>
                <a:cubicBezTo>
                  <a:pt x="4292955" y="3578664"/>
                  <a:pt x="4238628" y="3623809"/>
                  <a:pt x="4198839" y="3680432"/>
                </a:cubicBezTo>
                <a:lnTo>
                  <a:pt x="4198839" y="3090482"/>
                </a:lnTo>
                <a:close/>
                <a:moveTo>
                  <a:pt x="13376318" y="2950455"/>
                </a:moveTo>
                <a:cubicBezTo>
                  <a:pt x="13307453" y="2950455"/>
                  <a:pt x="13251213" y="2970732"/>
                  <a:pt x="13207597" y="3011286"/>
                </a:cubicBezTo>
                <a:cubicBezTo>
                  <a:pt x="13163983" y="3051840"/>
                  <a:pt x="13142176" y="3102724"/>
                  <a:pt x="13142176" y="3163938"/>
                </a:cubicBezTo>
                <a:cubicBezTo>
                  <a:pt x="13142176" y="3223622"/>
                  <a:pt x="13163983" y="3273741"/>
                  <a:pt x="13207597" y="3314296"/>
                </a:cubicBezTo>
                <a:cubicBezTo>
                  <a:pt x="13251213" y="3354850"/>
                  <a:pt x="13307453" y="3375127"/>
                  <a:pt x="13376318" y="3375127"/>
                </a:cubicBezTo>
                <a:cubicBezTo>
                  <a:pt x="13443654" y="3375127"/>
                  <a:pt x="13499130" y="3354850"/>
                  <a:pt x="13542744" y="3314296"/>
                </a:cubicBezTo>
                <a:cubicBezTo>
                  <a:pt x="13586359" y="3273741"/>
                  <a:pt x="13608167" y="3223622"/>
                  <a:pt x="13608167" y="3163938"/>
                </a:cubicBezTo>
                <a:cubicBezTo>
                  <a:pt x="13608167" y="3102724"/>
                  <a:pt x="13586359" y="3051840"/>
                  <a:pt x="13542744" y="3011286"/>
                </a:cubicBezTo>
                <a:cubicBezTo>
                  <a:pt x="13499130" y="2970732"/>
                  <a:pt x="13443655" y="2950455"/>
                  <a:pt x="13376318" y="2950455"/>
                </a:cubicBezTo>
                <a:close/>
                <a:moveTo>
                  <a:pt x="0" y="0"/>
                </a:moveTo>
                <a:lnTo>
                  <a:pt x="18288000" y="0"/>
                </a:lnTo>
                <a:lnTo>
                  <a:pt x="18288000" y="11087100"/>
                </a:lnTo>
                <a:lnTo>
                  <a:pt x="0" y="11087100"/>
                </a:lnTo>
                <a:close/>
              </a:path>
            </a:pathLst>
          </a:custGeom>
          <a:solidFill>
            <a:srgbClr val="4456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2800" dirty="0">
                <a:latin typeface="Agency FB" panose="020B0503020202020204" pitchFamily="34" charset="0"/>
              </a:rPr>
              <a:t>Chronemics refers to how different cultures perceive &amp; manage time in communication</a:t>
            </a:r>
            <a:endParaRPr lang="en-IN" sz="28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457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56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8E60E926-05AC-4090-6336-5CFCBD644F43}"/>
              </a:ext>
            </a:extLst>
          </p:cNvPr>
          <p:cNvGrpSpPr/>
          <p:nvPr/>
        </p:nvGrpSpPr>
        <p:grpSpPr>
          <a:xfrm>
            <a:off x="1287780" y="-7622"/>
            <a:ext cx="4960620" cy="10317480"/>
            <a:chOff x="13738860" y="-15240"/>
            <a:chExt cx="4960620" cy="10317480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A7BDAAD-43FD-0F12-B6F6-34DA337EE885}"/>
                </a:ext>
              </a:extLst>
            </p:cNvPr>
            <p:cNvGrpSpPr/>
            <p:nvPr/>
          </p:nvGrpSpPr>
          <p:grpSpPr>
            <a:xfrm>
              <a:off x="13776960" y="-15240"/>
              <a:ext cx="4922520" cy="10317480"/>
              <a:chOff x="13731240" y="-30480"/>
              <a:chExt cx="4922520" cy="1031748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34A46A9-572C-5115-1181-922EB7FB9CB7}"/>
                  </a:ext>
                </a:extLst>
              </p:cNvPr>
              <p:cNvSpPr/>
              <p:nvPr/>
            </p:nvSpPr>
            <p:spPr>
              <a:xfrm>
                <a:off x="13731240" y="-30480"/>
                <a:ext cx="4556760" cy="10317480"/>
              </a:xfrm>
              <a:prstGeom prst="rect">
                <a:avLst/>
              </a:prstGeom>
              <a:solidFill>
                <a:srgbClr val="C8FDF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B869616-2239-BB10-F867-B115C0FBB248}"/>
                  </a:ext>
                </a:extLst>
              </p:cNvPr>
              <p:cNvSpPr txBox="1"/>
              <p:nvPr/>
            </p:nvSpPr>
            <p:spPr>
              <a:xfrm>
                <a:off x="14257020" y="261818"/>
                <a:ext cx="3505200" cy="26468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600" dirty="0">
                    <a:latin typeface="Poppins Bold" panose="020B0604020202020204" charset="0"/>
                    <a:cs typeface="Poppins Bold" panose="020B0604020202020204" charset="0"/>
                  </a:rPr>
                  <a:t>D</a:t>
                </a:r>
                <a:endParaRPr lang="en-IN" sz="16600" dirty="0">
                  <a:latin typeface="Poppins Bold" panose="020B0604020202020204" charset="0"/>
                  <a:cs typeface="Poppins Bold" panose="020B0604020202020204" charset="0"/>
                </a:endParaRPr>
              </a:p>
            </p:txBody>
          </p:sp>
          <p:sp>
            <p:nvSpPr>
              <p:cNvPr id="33" name="Isosceles Triangle 32">
                <a:extLst>
                  <a:ext uri="{FF2B5EF4-FFF2-40B4-BE49-F238E27FC236}">
                    <a16:creationId xmlns:a16="http://schemas.microsoft.com/office/drawing/2014/main" id="{F7E8BDC5-AD4E-28E0-19E7-1E65F72915E6}"/>
                  </a:ext>
                </a:extLst>
              </p:cNvPr>
              <p:cNvSpPr/>
              <p:nvPr/>
            </p:nvSpPr>
            <p:spPr>
              <a:xfrm rot="16200000" flipV="1">
                <a:off x="17922240" y="1402377"/>
                <a:ext cx="1082040" cy="381000"/>
              </a:xfrm>
              <a:prstGeom prst="triangle">
                <a:avLst/>
              </a:prstGeom>
              <a:solidFill>
                <a:srgbClr val="C8FDF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057E2F9B-1926-05E5-6AC9-BE487163EFED}"/>
                </a:ext>
              </a:extLst>
            </p:cNvPr>
            <p:cNvGrpSpPr/>
            <p:nvPr/>
          </p:nvGrpSpPr>
          <p:grpSpPr>
            <a:xfrm>
              <a:off x="13738860" y="2872740"/>
              <a:ext cx="4549140" cy="6241076"/>
              <a:chOff x="13738860" y="2872740"/>
              <a:chExt cx="4549140" cy="6241076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58471AF-28A4-41DA-5B49-742248F2D7A7}"/>
                  </a:ext>
                </a:extLst>
              </p:cNvPr>
              <p:cNvSpPr txBox="1"/>
              <p:nvPr/>
            </p:nvSpPr>
            <p:spPr>
              <a:xfrm>
                <a:off x="13738860" y="2872740"/>
                <a:ext cx="4549140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dirty="0">
                    <a:latin typeface="Poppins Bold" panose="020B0604020202020204" charset="0"/>
                    <a:cs typeface="Poppins Bold" panose="020B0604020202020204" charset="0"/>
                  </a:rPr>
                  <a:t>TECHNICAL TOOLS AND REMINDERS</a:t>
                </a:r>
                <a:endParaRPr lang="en-IN" sz="3200" dirty="0">
                  <a:latin typeface="Poppins Bold" panose="020B0604020202020204" charset="0"/>
                  <a:cs typeface="Poppins Bold" panose="020B0604020202020204" charset="0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FA2ECBB-B35C-05EB-26DF-40780CE45B65}"/>
                  </a:ext>
                </a:extLst>
              </p:cNvPr>
              <p:cNvSpPr txBox="1"/>
              <p:nvPr/>
            </p:nvSpPr>
            <p:spPr>
              <a:xfrm>
                <a:off x="14116050" y="5143498"/>
                <a:ext cx="3794760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DM Sans" pitchFamily="2" charset="0"/>
                  </a:rPr>
                  <a:t>USE AUTOMATED REMINDERS AND MEETING DASHBOARDS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2800" dirty="0">
                  <a:latin typeface="DM Sans" pitchFamily="2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DM Sans" pitchFamily="2" charset="0"/>
                  </a:rPr>
                  <a:t>INTEGRATE WITH MODERN TOOLS LIKE TEAMS, SLACK, ASANA</a:t>
                </a:r>
                <a:endParaRPr lang="en-IN" sz="2800" dirty="0">
                  <a:latin typeface="DM Sans" pitchFamily="2" charset="0"/>
                </a:endParaRPr>
              </a:p>
            </p:txBody>
          </p:sp>
        </p:grp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BB8C1AA-77B0-2308-16E6-0DA32678A65A}"/>
              </a:ext>
            </a:extLst>
          </p:cNvPr>
          <p:cNvGrpSpPr/>
          <p:nvPr/>
        </p:nvGrpSpPr>
        <p:grpSpPr>
          <a:xfrm>
            <a:off x="838200" y="0"/>
            <a:ext cx="4998720" cy="10317480"/>
            <a:chOff x="9144000" y="-15240"/>
            <a:chExt cx="4998720" cy="10317480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1B49BC9-9067-12AD-DF03-46B3FD95D992}"/>
                </a:ext>
              </a:extLst>
            </p:cNvPr>
            <p:cNvGrpSpPr/>
            <p:nvPr/>
          </p:nvGrpSpPr>
          <p:grpSpPr>
            <a:xfrm>
              <a:off x="9144000" y="-15240"/>
              <a:ext cx="4998720" cy="10317480"/>
              <a:chOff x="9113520" y="-22860"/>
              <a:chExt cx="4998720" cy="1031748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C44E38D-306F-CC36-44EB-E4975E551485}"/>
                  </a:ext>
                </a:extLst>
              </p:cNvPr>
              <p:cNvSpPr/>
              <p:nvPr/>
            </p:nvSpPr>
            <p:spPr>
              <a:xfrm>
                <a:off x="9113520" y="-22860"/>
                <a:ext cx="4632960" cy="10317480"/>
              </a:xfrm>
              <a:prstGeom prst="rect">
                <a:avLst/>
              </a:prstGeom>
              <a:solidFill>
                <a:srgbClr val="AAD7D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D877083-336A-5E3C-71AE-7E285A6187D7}"/>
                  </a:ext>
                </a:extLst>
              </p:cNvPr>
              <p:cNvSpPr txBox="1"/>
              <p:nvPr/>
            </p:nvSpPr>
            <p:spPr>
              <a:xfrm>
                <a:off x="9685020" y="266700"/>
                <a:ext cx="3505200" cy="26468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600" dirty="0">
                    <a:latin typeface="Poppins Bold" panose="020B0604020202020204" charset="0"/>
                    <a:cs typeface="Poppins Bold" panose="020B0604020202020204" charset="0"/>
                  </a:rPr>
                  <a:t>C</a:t>
                </a:r>
                <a:endParaRPr lang="en-IN" sz="16600" dirty="0">
                  <a:latin typeface="Poppins Bold" panose="020B0604020202020204" charset="0"/>
                  <a:cs typeface="Poppins Bold" panose="020B0604020202020204" charset="0"/>
                </a:endParaRPr>
              </a:p>
            </p:txBody>
          </p:sp>
          <p:sp>
            <p:nvSpPr>
              <p:cNvPr id="23" name="Isosceles Triangle 22">
                <a:extLst>
                  <a:ext uri="{FF2B5EF4-FFF2-40B4-BE49-F238E27FC236}">
                    <a16:creationId xmlns:a16="http://schemas.microsoft.com/office/drawing/2014/main" id="{9BE68B0E-143A-2555-34C7-04D591482330}"/>
                  </a:ext>
                </a:extLst>
              </p:cNvPr>
              <p:cNvSpPr/>
              <p:nvPr/>
            </p:nvSpPr>
            <p:spPr>
              <a:xfrm rot="16200000" flipV="1">
                <a:off x="13380720" y="1402377"/>
                <a:ext cx="1082040" cy="381000"/>
              </a:xfrm>
              <a:prstGeom prst="triangle">
                <a:avLst/>
              </a:prstGeom>
              <a:solidFill>
                <a:srgbClr val="AAD7D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85F6816-0232-EB49-6C90-2D080EFB7EBC}"/>
                </a:ext>
              </a:extLst>
            </p:cNvPr>
            <p:cNvSpPr txBox="1"/>
            <p:nvPr/>
          </p:nvSpPr>
          <p:spPr>
            <a:xfrm>
              <a:off x="9159240" y="2872740"/>
              <a:ext cx="454914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latin typeface="Poppins Bold" panose="020B0604020202020204" charset="0"/>
                  <a:cs typeface="Poppins Bold" panose="020B0604020202020204" charset="0"/>
                </a:rPr>
                <a:t>FELXIBLE SCHEDULING</a:t>
              </a:r>
              <a:endParaRPr lang="en-IN" sz="3200" dirty="0">
                <a:latin typeface="Poppins Bold" panose="020B0604020202020204" charset="0"/>
                <a:cs typeface="Poppins Bold" panose="020B060402020202020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98EEDD1-0F09-9228-3650-C3F81FDFD880}"/>
                </a:ext>
              </a:extLst>
            </p:cNvPr>
            <p:cNvSpPr txBox="1"/>
            <p:nvPr/>
          </p:nvSpPr>
          <p:spPr>
            <a:xfrm>
              <a:off x="9536430" y="5143498"/>
              <a:ext cx="3794760" cy="3539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>
                  <a:latin typeface="DM Sans" pitchFamily="2" charset="0"/>
                </a:rPr>
                <a:t>ALTERNATE MEETING TIME FOR FAIRNESS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endParaRPr lang="en-US" sz="2800" dirty="0">
                <a:latin typeface="DM Sans" pitchFamily="2" charset="0"/>
              </a:endParaRP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>
                  <a:latin typeface="DM Sans" pitchFamily="2" charset="0"/>
                </a:rPr>
                <a:t>RECORD AND SUMMARIZE MEETINGS FOR ABSENTEES</a:t>
              </a:r>
              <a:endParaRPr lang="en-IN" sz="2800" dirty="0">
                <a:latin typeface="DM Sans" pitchFamily="2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F4477C3-7F07-5871-42B2-E9DC8096E42A}"/>
              </a:ext>
            </a:extLst>
          </p:cNvPr>
          <p:cNvGrpSpPr/>
          <p:nvPr/>
        </p:nvGrpSpPr>
        <p:grpSpPr>
          <a:xfrm>
            <a:off x="426720" y="-7620"/>
            <a:ext cx="4983480" cy="10317480"/>
            <a:chOff x="4556760" y="7618"/>
            <a:chExt cx="4983480" cy="10317480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4006ACB5-5AAC-370C-8A41-70A84CF552FC}"/>
                </a:ext>
              </a:extLst>
            </p:cNvPr>
            <p:cNvGrpSpPr/>
            <p:nvPr/>
          </p:nvGrpSpPr>
          <p:grpSpPr>
            <a:xfrm>
              <a:off x="4572000" y="7618"/>
              <a:ext cx="4968240" cy="10317480"/>
              <a:chOff x="4648200" y="-38100"/>
              <a:chExt cx="4968240" cy="10317480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BABC817-20C2-435A-8753-6D50C52E7638}"/>
                  </a:ext>
                </a:extLst>
              </p:cNvPr>
              <p:cNvSpPr/>
              <p:nvPr/>
            </p:nvSpPr>
            <p:spPr>
              <a:xfrm>
                <a:off x="4648200" y="-38100"/>
                <a:ext cx="4587240" cy="10317480"/>
              </a:xfrm>
              <a:prstGeom prst="rect">
                <a:avLst/>
              </a:prstGeom>
              <a:solidFill>
                <a:srgbClr val="81A3A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2989F0-885F-F988-B136-6B4405EF0D01}"/>
                  </a:ext>
                </a:extLst>
              </p:cNvPr>
              <p:cNvSpPr txBox="1"/>
              <p:nvPr/>
            </p:nvSpPr>
            <p:spPr>
              <a:xfrm>
                <a:off x="5097780" y="266700"/>
                <a:ext cx="3505200" cy="26468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600" dirty="0">
                    <a:latin typeface="Poppins Bold" panose="020B0604020202020204" charset="0"/>
                    <a:cs typeface="Poppins Bold" panose="020B0604020202020204" charset="0"/>
                  </a:rPr>
                  <a:t>B</a:t>
                </a:r>
                <a:endParaRPr lang="en-IN" sz="16600" dirty="0">
                  <a:latin typeface="Poppins Bold" panose="020B0604020202020204" charset="0"/>
                  <a:cs typeface="Poppins Bold" panose="020B0604020202020204" charset="0"/>
                </a:endParaRPr>
              </a:p>
            </p:txBody>
          </p:sp>
          <p:sp>
            <p:nvSpPr>
              <p:cNvPr id="22" name="Isosceles Triangle 21">
                <a:extLst>
                  <a:ext uri="{FF2B5EF4-FFF2-40B4-BE49-F238E27FC236}">
                    <a16:creationId xmlns:a16="http://schemas.microsoft.com/office/drawing/2014/main" id="{D3103751-B6C2-A25B-A2F1-C1A829285126}"/>
                  </a:ext>
                </a:extLst>
              </p:cNvPr>
              <p:cNvSpPr/>
              <p:nvPr/>
            </p:nvSpPr>
            <p:spPr>
              <a:xfrm rot="16200000" flipV="1">
                <a:off x="8884920" y="1394757"/>
                <a:ext cx="1082040" cy="381000"/>
              </a:xfrm>
              <a:prstGeom prst="triangle">
                <a:avLst/>
              </a:prstGeom>
              <a:solidFill>
                <a:srgbClr val="81A3A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B5D20E3-7EEE-30BB-DB6E-C9CCDBBBF5F6}"/>
                </a:ext>
              </a:extLst>
            </p:cNvPr>
            <p:cNvSpPr txBox="1"/>
            <p:nvPr/>
          </p:nvSpPr>
          <p:spPr>
            <a:xfrm>
              <a:off x="4556760" y="2895598"/>
              <a:ext cx="454914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latin typeface="Poppins Bold" panose="020B0604020202020204" charset="0"/>
                  <a:cs typeface="Poppins Bold" panose="020B0604020202020204" charset="0"/>
                </a:rPr>
                <a:t>CULTURAL AWARENESS TRAINING</a:t>
              </a:r>
              <a:endParaRPr lang="en-IN" sz="3200" dirty="0">
                <a:latin typeface="Poppins Bold" panose="020B0604020202020204" charset="0"/>
                <a:cs typeface="Poppins Bold" panose="020B0604020202020204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CF9521D-E3C1-EA51-BF6D-8A9CF962D1F9}"/>
                </a:ext>
              </a:extLst>
            </p:cNvPr>
            <p:cNvSpPr txBox="1"/>
            <p:nvPr/>
          </p:nvSpPr>
          <p:spPr>
            <a:xfrm>
              <a:off x="4964430" y="5166357"/>
              <a:ext cx="3794760" cy="39703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>
                  <a:latin typeface="DM Sans" pitchFamily="2" charset="0"/>
                </a:rPr>
                <a:t>CONDUCT BREIF WORKSHOPS FOR BOTH TEAMS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endParaRPr lang="en-US" sz="2800" dirty="0">
                <a:latin typeface="DM Sans" pitchFamily="2" charset="0"/>
              </a:endParaRP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IN" sz="2800" dirty="0">
                  <a:latin typeface="DM Sans" pitchFamily="2" charset="0"/>
                </a:rPr>
                <a:t>BUILD EMPATHY &amp; UNDERSTANDING OF DIFFERENT TIME PERCEPTIONS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A9B48F99-DE50-DE38-8CD4-8BE37070869B}"/>
              </a:ext>
            </a:extLst>
          </p:cNvPr>
          <p:cNvSpPr txBox="1"/>
          <p:nvPr/>
        </p:nvSpPr>
        <p:spPr>
          <a:xfrm>
            <a:off x="7726681" y="2928818"/>
            <a:ext cx="9342119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POSSIBLE SOLUTIONS</a:t>
            </a:r>
            <a:endParaRPr lang="en-IN" sz="11500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31837FC-3B01-0AA2-346E-6954AADBAEB8}"/>
              </a:ext>
            </a:extLst>
          </p:cNvPr>
          <p:cNvGrpSpPr/>
          <p:nvPr/>
        </p:nvGrpSpPr>
        <p:grpSpPr>
          <a:xfrm>
            <a:off x="0" y="0"/>
            <a:ext cx="4930140" cy="10317480"/>
            <a:chOff x="-15240" y="-15240"/>
            <a:chExt cx="4930140" cy="1031748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00BCFFEC-8D98-D62D-6582-7DBE6A99C827}"/>
                </a:ext>
              </a:extLst>
            </p:cNvPr>
            <p:cNvGrpSpPr/>
            <p:nvPr/>
          </p:nvGrpSpPr>
          <p:grpSpPr>
            <a:xfrm>
              <a:off x="-7620" y="-15240"/>
              <a:ext cx="4922520" cy="10317480"/>
              <a:chOff x="0" y="-30480"/>
              <a:chExt cx="4922520" cy="10317480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B7393CA-9156-1A7F-E538-943B8FB941D0}"/>
                  </a:ext>
                </a:extLst>
              </p:cNvPr>
              <p:cNvSpPr/>
              <p:nvPr/>
            </p:nvSpPr>
            <p:spPr>
              <a:xfrm>
                <a:off x="0" y="-30480"/>
                <a:ext cx="4556760" cy="10317480"/>
              </a:xfrm>
              <a:prstGeom prst="rect">
                <a:avLst/>
              </a:prstGeom>
              <a:solidFill>
                <a:srgbClr val="6D8A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3A3AD7-793B-2508-EC3B-40A1E619FF49}"/>
                  </a:ext>
                </a:extLst>
              </p:cNvPr>
              <p:cNvSpPr txBox="1"/>
              <p:nvPr/>
            </p:nvSpPr>
            <p:spPr>
              <a:xfrm>
                <a:off x="525780" y="266700"/>
                <a:ext cx="3505200" cy="26468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600" dirty="0">
                    <a:latin typeface="Poppins Bold" panose="020B0604020202020204" charset="0"/>
                    <a:cs typeface="Poppins Bold" panose="020B0604020202020204" charset="0"/>
                  </a:rPr>
                  <a:t>A</a:t>
                </a:r>
                <a:endParaRPr lang="en-IN" sz="16600" dirty="0">
                  <a:latin typeface="Poppins Bold" panose="020B0604020202020204" charset="0"/>
                  <a:cs typeface="Poppins Bold" panose="020B0604020202020204" charset="0"/>
                </a:endParaRPr>
              </a:p>
            </p:txBody>
          </p:sp>
          <p:sp>
            <p:nvSpPr>
              <p:cNvPr id="19" name="Isosceles Triangle 18">
                <a:extLst>
                  <a:ext uri="{FF2B5EF4-FFF2-40B4-BE49-F238E27FC236}">
                    <a16:creationId xmlns:a16="http://schemas.microsoft.com/office/drawing/2014/main" id="{FF624C4F-D90B-1615-71A0-487A38BE9513}"/>
                  </a:ext>
                </a:extLst>
              </p:cNvPr>
              <p:cNvSpPr/>
              <p:nvPr/>
            </p:nvSpPr>
            <p:spPr>
              <a:xfrm rot="16200000" flipV="1">
                <a:off x="4191000" y="1402377"/>
                <a:ext cx="1082040" cy="381000"/>
              </a:xfrm>
              <a:prstGeom prst="triangle">
                <a:avLst/>
              </a:prstGeom>
              <a:solidFill>
                <a:srgbClr val="6D8A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05B4F54-6A1B-3035-EB52-D98EF4096BCD}"/>
                </a:ext>
              </a:extLst>
            </p:cNvPr>
            <p:cNvSpPr txBox="1"/>
            <p:nvPr/>
          </p:nvSpPr>
          <p:spPr>
            <a:xfrm>
              <a:off x="-15240" y="2872740"/>
              <a:ext cx="454914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latin typeface="Poppins Bold" panose="020B0604020202020204" charset="0"/>
                  <a:cs typeface="Poppins Bold" panose="020B0604020202020204" charset="0"/>
                </a:rPr>
                <a:t>SHARED OPERATIONS PROTOCOL</a:t>
              </a:r>
              <a:endParaRPr lang="en-IN" sz="3200" dirty="0">
                <a:latin typeface="Poppins Bold" panose="020B0604020202020204" charset="0"/>
                <a:cs typeface="Poppins Bold" panose="020B0604020202020204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62D237E-74EE-32DB-4EAF-4FCB747D9D52}"/>
                </a:ext>
              </a:extLst>
            </p:cNvPr>
            <p:cNvSpPr txBox="1"/>
            <p:nvPr/>
          </p:nvSpPr>
          <p:spPr>
            <a:xfrm>
              <a:off x="373380" y="5143500"/>
              <a:ext cx="3794760" cy="4401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>
                  <a:latin typeface="DM Sans" pitchFamily="2" charset="0"/>
                </a:rPr>
                <a:t>CREATE JOINT MEETING POLICY (PUNCTUALITY, DELAY LIMITS, RESCHEDULE RULES)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endParaRPr lang="en-US" sz="2800" dirty="0">
                <a:latin typeface="DM Sans" pitchFamily="2" charset="0"/>
              </a:endParaRP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>
                  <a:latin typeface="DM Sans" pitchFamily="2" charset="0"/>
                </a:rPr>
                <a:t>USE SHARED TIME-ZONE AWARE CALENDARS</a:t>
              </a:r>
              <a:endParaRPr lang="en-IN" sz="2800" dirty="0">
                <a:latin typeface="DM 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4696597"/>
      </p:ext>
    </p:extLst>
  </p:cSld>
  <p:clrMapOvr>
    <a:masterClrMapping/>
  </p:clrMapOvr>
  <p:transition spd="slow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565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6A8719-74F9-8CA5-C68A-8326FDBE2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425CF1F7-7D9E-80F9-E12C-85285ABBF154}"/>
              </a:ext>
            </a:extLst>
          </p:cNvPr>
          <p:cNvGrpSpPr/>
          <p:nvPr/>
        </p:nvGrpSpPr>
        <p:grpSpPr>
          <a:xfrm>
            <a:off x="13746480" y="7618"/>
            <a:ext cx="4960620" cy="10317480"/>
            <a:chOff x="13738860" y="-15240"/>
            <a:chExt cx="4960620" cy="10317480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08067E09-1243-23EF-6545-39099B76C9E7}"/>
                </a:ext>
              </a:extLst>
            </p:cNvPr>
            <p:cNvGrpSpPr/>
            <p:nvPr/>
          </p:nvGrpSpPr>
          <p:grpSpPr>
            <a:xfrm>
              <a:off x="13761720" y="-15240"/>
              <a:ext cx="4937760" cy="10317480"/>
              <a:chOff x="13716000" y="-30480"/>
              <a:chExt cx="4937760" cy="1031748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D7C76D4-F334-4F7D-ADB3-BB49A81442A5}"/>
                  </a:ext>
                </a:extLst>
              </p:cNvPr>
              <p:cNvSpPr/>
              <p:nvPr/>
            </p:nvSpPr>
            <p:spPr>
              <a:xfrm>
                <a:off x="13716000" y="-30480"/>
                <a:ext cx="4556760" cy="10317480"/>
              </a:xfrm>
              <a:prstGeom prst="rect">
                <a:avLst/>
              </a:prstGeom>
              <a:solidFill>
                <a:srgbClr val="C8FDF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EED2F0A-4CEB-00AD-4E52-E00FAF28B29A}"/>
                  </a:ext>
                </a:extLst>
              </p:cNvPr>
              <p:cNvSpPr txBox="1"/>
              <p:nvPr/>
            </p:nvSpPr>
            <p:spPr>
              <a:xfrm>
                <a:off x="14257020" y="261818"/>
                <a:ext cx="3505200" cy="26468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600" dirty="0">
                    <a:latin typeface="Poppins Bold" panose="020B0604020202020204" charset="0"/>
                    <a:cs typeface="Poppins Bold" panose="020B0604020202020204" charset="0"/>
                  </a:rPr>
                  <a:t>D</a:t>
                </a:r>
                <a:endParaRPr lang="en-IN" sz="16600" dirty="0">
                  <a:latin typeface="Poppins Bold" panose="020B0604020202020204" charset="0"/>
                  <a:cs typeface="Poppins Bold" panose="020B0604020202020204" charset="0"/>
                </a:endParaRPr>
              </a:p>
            </p:txBody>
          </p:sp>
          <p:sp>
            <p:nvSpPr>
              <p:cNvPr id="33" name="Isosceles Triangle 32">
                <a:extLst>
                  <a:ext uri="{FF2B5EF4-FFF2-40B4-BE49-F238E27FC236}">
                    <a16:creationId xmlns:a16="http://schemas.microsoft.com/office/drawing/2014/main" id="{631B6290-F986-F494-A07F-D7CFAC16B38C}"/>
                  </a:ext>
                </a:extLst>
              </p:cNvPr>
              <p:cNvSpPr/>
              <p:nvPr/>
            </p:nvSpPr>
            <p:spPr>
              <a:xfrm rot="16200000" flipV="1">
                <a:off x="17922240" y="1402377"/>
                <a:ext cx="1082040" cy="381000"/>
              </a:xfrm>
              <a:prstGeom prst="triangle">
                <a:avLst/>
              </a:prstGeom>
              <a:solidFill>
                <a:srgbClr val="C8FDF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C3DEF737-2E03-80F4-C1FF-BC1BBBB58430}"/>
                </a:ext>
              </a:extLst>
            </p:cNvPr>
            <p:cNvGrpSpPr/>
            <p:nvPr/>
          </p:nvGrpSpPr>
          <p:grpSpPr>
            <a:xfrm>
              <a:off x="13738860" y="2872740"/>
              <a:ext cx="4549140" cy="6241076"/>
              <a:chOff x="13738860" y="2872740"/>
              <a:chExt cx="4549140" cy="6241076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F399AB4-23B6-9805-0F1D-BA5AE25526B4}"/>
                  </a:ext>
                </a:extLst>
              </p:cNvPr>
              <p:cNvSpPr txBox="1"/>
              <p:nvPr/>
            </p:nvSpPr>
            <p:spPr>
              <a:xfrm>
                <a:off x="13738860" y="2872740"/>
                <a:ext cx="4549140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dirty="0">
                    <a:latin typeface="Poppins Bold" panose="020B0604020202020204" charset="0"/>
                    <a:cs typeface="Poppins Bold" panose="020B0604020202020204" charset="0"/>
                  </a:rPr>
                  <a:t>TECHNICAL TOOLS AND REMINDERS</a:t>
                </a:r>
                <a:endParaRPr lang="en-IN" sz="3200" dirty="0">
                  <a:latin typeface="Poppins Bold" panose="020B0604020202020204" charset="0"/>
                  <a:cs typeface="Poppins Bold" panose="020B0604020202020204" charset="0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2080C02-0882-0951-87CE-C87F5A8A8878}"/>
                  </a:ext>
                </a:extLst>
              </p:cNvPr>
              <p:cNvSpPr txBox="1"/>
              <p:nvPr/>
            </p:nvSpPr>
            <p:spPr>
              <a:xfrm>
                <a:off x="14116050" y="5143498"/>
                <a:ext cx="3794760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DM Sans" pitchFamily="2" charset="0"/>
                  </a:rPr>
                  <a:t>USE AUTOMATED REMINDERS AND MEETING DASHBOARDS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2800" dirty="0">
                  <a:latin typeface="DM Sans" pitchFamily="2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DM Sans" pitchFamily="2" charset="0"/>
                  </a:rPr>
                  <a:t>INTEGRATE WITH MODERN TOOLS LIKE TEAMS, SLACK, ASANA</a:t>
                </a:r>
                <a:endParaRPr lang="en-IN" sz="2800" dirty="0">
                  <a:latin typeface="DM Sans" pitchFamily="2" charset="0"/>
                </a:endParaRPr>
              </a:p>
            </p:txBody>
          </p:sp>
        </p:grp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84E1C2F-CA1F-44E1-A8A3-B10C7F0A79B0}"/>
              </a:ext>
            </a:extLst>
          </p:cNvPr>
          <p:cNvGrpSpPr/>
          <p:nvPr/>
        </p:nvGrpSpPr>
        <p:grpSpPr>
          <a:xfrm>
            <a:off x="9144000" y="0"/>
            <a:ext cx="4998720" cy="10317480"/>
            <a:chOff x="9144000" y="-15240"/>
            <a:chExt cx="4998720" cy="10317480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267C141-2046-1D13-2E65-5FA3000450E4}"/>
                </a:ext>
              </a:extLst>
            </p:cNvPr>
            <p:cNvGrpSpPr/>
            <p:nvPr/>
          </p:nvGrpSpPr>
          <p:grpSpPr>
            <a:xfrm>
              <a:off x="9144000" y="-15240"/>
              <a:ext cx="4998720" cy="10317480"/>
              <a:chOff x="9113520" y="-22860"/>
              <a:chExt cx="4998720" cy="1031748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98A6C6F-5EC3-9EB1-FF88-B4D1AC283A8F}"/>
                  </a:ext>
                </a:extLst>
              </p:cNvPr>
              <p:cNvSpPr/>
              <p:nvPr/>
            </p:nvSpPr>
            <p:spPr>
              <a:xfrm>
                <a:off x="9113520" y="-22860"/>
                <a:ext cx="4632960" cy="10317480"/>
              </a:xfrm>
              <a:prstGeom prst="rect">
                <a:avLst/>
              </a:prstGeom>
              <a:solidFill>
                <a:srgbClr val="AAD7D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D9D8615-2E49-654E-8AE0-F3AAC89A5F6C}"/>
                  </a:ext>
                </a:extLst>
              </p:cNvPr>
              <p:cNvSpPr txBox="1"/>
              <p:nvPr/>
            </p:nvSpPr>
            <p:spPr>
              <a:xfrm>
                <a:off x="9685020" y="266700"/>
                <a:ext cx="3505200" cy="26468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600" dirty="0">
                    <a:latin typeface="Poppins Bold" panose="020B0604020202020204" charset="0"/>
                    <a:cs typeface="Poppins Bold" panose="020B0604020202020204" charset="0"/>
                  </a:rPr>
                  <a:t>C</a:t>
                </a:r>
                <a:endParaRPr lang="en-IN" sz="16600" dirty="0">
                  <a:latin typeface="Poppins Bold" panose="020B0604020202020204" charset="0"/>
                  <a:cs typeface="Poppins Bold" panose="020B0604020202020204" charset="0"/>
                </a:endParaRPr>
              </a:p>
            </p:txBody>
          </p:sp>
          <p:sp>
            <p:nvSpPr>
              <p:cNvPr id="23" name="Isosceles Triangle 22">
                <a:extLst>
                  <a:ext uri="{FF2B5EF4-FFF2-40B4-BE49-F238E27FC236}">
                    <a16:creationId xmlns:a16="http://schemas.microsoft.com/office/drawing/2014/main" id="{A948AE14-82E6-6DCB-CFF3-9E3617BB5044}"/>
                  </a:ext>
                </a:extLst>
              </p:cNvPr>
              <p:cNvSpPr/>
              <p:nvPr/>
            </p:nvSpPr>
            <p:spPr>
              <a:xfrm rot="16200000" flipV="1">
                <a:off x="13380720" y="1402377"/>
                <a:ext cx="1082040" cy="381000"/>
              </a:xfrm>
              <a:prstGeom prst="triangle">
                <a:avLst/>
              </a:prstGeom>
              <a:solidFill>
                <a:srgbClr val="AAD7D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47B875E-D127-8784-4F83-A2A433EFC41B}"/>
                </a:ext>
              </a:extLst>
            </p:cNvPr>
            <p:cNvSpPr txBox="1"/>
            <p:nvPr/>
          </p:nvSpPr>
          <p:spPr>
            <a:xfrm>
              <a:off x="9159240" y="2872740"/>
              <a:ext cx="454914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latin typeface="Poppins Bold" panose="020B0604020202020204" charset="0"/>
                  <a:cs typeface="Poppins Bold" panose="020B0604020202020204" charset="0"/>
                </a:rPr>
                <a:t>FELXIBLE SCHEDULING</a:t>
              </a:r>
              <a:endParaRPr lang="en-IN" sz="3200" dirty="0">
                <a:latin typeface="Poppins Bold" panose="020B0604020202020204" charset="0"/>
                <a:cs typeface="Poppins Bold" panose="020B060402020202020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C8BF8B3-BD63-D503-92FA-527B352AE3D7}"/>
                </a:ext>
              </a:extLst>
            </p:cNvPr>
            <p:cNvSpPr txBox="1"/>
            <p:nvPr/>
          </p:nvSpPr>
          <p:spPr>
            <a:xfrm>
              <a:off x="9536430" y="5143498"/>
              <a:ext cx="3794760" cy="3539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>
                  <a:latin typeface="DM Sans" pitchFamily="2" charset="0"/>
                </a:rPr>
                <a:t>ALTERNATE MEETING TIME FOR FAIRNESS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endParaRPr lang="en-US" sz="2800" dirty="0">
                <a:latin typeface="DM Sans" pitchFamily="2" charset="0"/>
              </a:endParaRP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>
                  <a:latin typeface="DM Sans" pitchFamily="2" charset="0"/>
                </a:rPr>
                <a:t>RECORD AND SUMMARIZE MEETINGS FOR ABSENTEES</a:t>
              </a:r>
              <a:endParaRPr lang="en-IN" sz="2800" dirty="0">
                <a:latin typeface="DM Sans" pitchFamily="2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9475F58-2472-EE83-9C6B-0D33DC3E6D4F}"/>
              </a:ext>
            </a:extLst>
          </p:cNvPr>
          <p:cNvGrpSpPr/>
          <p:nvPr/>
        </p:nvGrpSpPr>
        <p:grpSpPr>
          <a:xfrm>
            <a:off x="4541520" y="7370"/>
            <a:ext cx="4983480" cy="10317480"/>
            <a:chOff x="4556760" y="7618"/>
            <a:chExt cx="4983480" cy="10317480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9258C68-C3C4-D4D4-B664-B33295EE24D1}"/>
                </a:ext>
              </a:extLst>
            </p:cNvPr>
            <p:cNvGrpSpPr/>
            <p:nvPr/>
          </p:nvGrpSpPr>
          <p:grpSpPr>
            <a:xfrm>
              <a:off x="4572000" y="7618"/>
              <a:ext cx="4968240" cy="10317480"/>
              <a:chOff x="4648200" y="-38100"/>
              <a:chExt cx="4968240" cy="10317480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7B190EB-235D-B0A3-E523-584B2F9B1C81}"/>
                  </a:ext>
                </a:extLst>
              </p:cNvPr>
              <p:cNvSpPr/>
              <p:nvPr/>
            </p:nvSpPr>
            <p:spPr>
              <a:xfrm>
                <a:off x="4648200" y="-38100"/>
                <a:ext cx="4587240" cy="10317480"/>
              </a:xfrm>
              <a:prstGeom prst="rect">
                <a:avLst/>
              </a:prstGeom>
              <a:solidFill>
                <a:srgbClr val="81A3A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C3F0C09-6EF2-0F79-8E7F-A08C24CC00DB}"/>
                  </a:ext>
                </a:extLst>
              </p:cNvPr>
              <p:cNvSpPr txBox="1"/>
              <p:nvPr/>
            </p:nvSpPr>
            <p:spPr>
              <a:xfrm>
                <a:off x="5097780" y="266700"/>
                <a:ext cx="3505200" cy="26468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600" dirty="0">
                    <a:latin typeface="Poppins Bold" panose="020B0604020202020204" charset="0"/>
                    <a:cs typeface="Poppins Bold" panose="020B0604020202020204" charset="0"/>
                  </a:rPr>
                  <a:t>B</a:t>
                </a:r>
                <a:endParaRPr lang="en-IN" sz="16600" dirty="0">
                  <a:latin typeface="Poppins Bold" panose="020B0604020202020204" charset="0"/>
                  <a:cs typeface="Poppins Bold" panose="020B0604020202020204" charset="0"/>
                </a:endParaRPr>
              </a:p>
            </p:txBody>
          </p:sp>
          <p:sp>
            <p:nvSpPr>
              <p:cNvPr id="22" name="Isosceles Triangle 21">
                <a:extLst>
                  <a:ext uri="{FF2B5EF4-FFF2-40B4-BE49-F238E27FC236}">
                    <a16:creationId xmlns:a16="http://schemas.microsoft.com/office/drawing/2014/main" id="{91E73274-0506-204F-B6B2-E6A796E4F5C9}"/>
                  </a:ext>
                </a:extLst>
              </p:cNvPr>
              <p:cNvSpPr/>
              <p:nvPr/>
            </p:nvSpPr>
            <p:spPr>
              <a:xfrm rot="16200000" flipV="1">
                <a:off x="8884920" y="1394757"/>
                <a:ext cx="1082040" cy="381000"/>
              </a:xfrm>
              <a:prstGeom prst="triangle">
                <a:avLst/>
              </a:prstGeom>
              <a:solidFill>
                <a:srgbClr val="81A3A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D1A6FC7-2099-C766-4634-A1DE278490E0}"/>
                </a:ext>
              </a:extLst>
            </p:cNvPr>
            <p:cNvSpPr txBox="1"/>
            <p:nvPr/>
          </p:nvSpPr>
          <p:spPr>
            <a:xfrm>
              <a:off x="4556760" y="2895598"/>
              <a:ext cx="454914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latin typeface="Poppins Bold" panose="020B0604020202020204" charset="0"/>
                  <a:cs typeface="Poppins Bold" panose="020B0604020202020204" charset="0"/>
                </a:rPr>
                <a:t>CULTURAL AWARENESS TRAINING</a:t>
              </a:r>
              <a:endParaRPr lang="en-IN" sz="3200" dirty="0">
                <a:latin typeface="Poppins Bold" panose="020B0604020202020204" charset="0"/>
                <a:cs typeface="Poppins Bold" panose="020B0604020202020204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3408559-36AD-ECF9-1DEC-8E73F2DC5941}"/>
                </a:ext>
              </a:extLst>
            </p:cNvPr>
            <p:cNvSpPr txBox="1"/>
            <p:nvPr/>
          </p:nvSpPr>
          <p:spPr>
            <a:xfrm>
              <a:off x="4964430" y="5166357"/>
              <a:ext cx="3794760" cy="39703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>
                  <a:latin typeface="DM Sans" pitchFamily="2" charset="0"/>
                </a:rPr>
                <a:t>CONDUCT BREIF WORKSHOPS FOR BOTH TEAMS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endParaRPr lang="en-US" sz="2800" dirty="0">
                <a:latin typeface="DM Sans" pitchFamily="2" charset="0"/>
              </a:endParaRP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IN" sz="2800" dirty="0">
                  <a:latin typeface="DM Sans" pitchFamily="2" charset="0"/>
                </a:rPr>
                <a:t>BUILD EMPATHY &amp; UNDERSTANDING OF DIFFERENT TIME PERCEPTIONS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84FE521D-A427-7FA4-2610-49F62F80F1F0}"/>
              </a:ext>
            </a:extLst>
          </p:cNvPr>
          <p:cNvSpPr txBox="1"/>
          <p:nvPr/>
        </p:nvSpPr>
        <p:spPr>
          <a:xfrm>
            <a:off x="18699480" y="2928818"/>
            <a:ext cx="9342119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POSSIBLE SOLUTIONS</a:t>
            </a:r>
            <a:endParaRPr lang="en-IN" sz="11500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CC6CDE9-EA24-319F-A79C-1095149A59E8}"/>
              </a:ext>
            </a:extLst>
          </p:cNvPr>
          <p:cNvGrpSpPr/>
          <p:nvPr/>
        </p:nvGrpSpPr>
        <p:grpSpPr>
          <a:xfrm>
            <a:off x="-250" y="0"/>
            <a:ext cx="4930140" cy="10317480"/>
            <a:chOff x="-15240" y="-15240"/>
            <a:chExt cx="4930140" cy="1031748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C3F06C8-6FCC-DB95-2892-C3AF7198056E}"/>
                </a:ext>
              </a:extLst>
            </p:cNvPr>
            <p:cNvGrpSpPr/>
            <p:nvPr/>
          </p:nvGrpSpPr>
          <p:grpSpPr>
            <a:xfrm>
              <a:off x="-7620" y="-15240"/>
              <a:ext cx="4922520" cy="10317480"/>
              <a:chOff x="0" y="-30480"/>
              <a:chExt cx="4922520" cy="10317480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34D6A015-96E0-DF7E-86CF-6015586ED249}"/>
                  </a:ext>
                </a:extLst>
              </p:cNvPr>
              <p:cNvSpPr/>
              <p:nvPr/>
            </p:nvSpPr>
            <p:spPr>
              <a:xfrm>
                <a:off x="0" y="-30480"/>
                <a:ext cx="4556760" cy="10317480"/>
              </a:xfrm>
              <a:prstGeom prst="rect">
                <a:avLst/>
              </a:prstGeom>
              <a:solidFill>
                <a:srgbClr val="6D8A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56FCB6-FFF1-560D-63BE-DAE13FF91B06}"/>
                  </a:ext>
                </a:extLst>
              </p:cNvPr>
              <p:cNvSpPr txBox="1"/>
              <p:nvPr/>
            </p:nvSpPr>
            <p:spPr>
              <a:xfrm>
                <a:off x="525780" y="266700"/>
                <a:ext cx="3505200" cy="26468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600" dirty="0">
                    <a:latin typeface="Poppins Bold" panose="020B0604020202020204" charset="0"/>
                    <a:cs typeface="Poppins Bold" panose="020B0604020202020204" charset="0"/>
                  </a:rPr>
                  <a:t>A</a:t>
                </a:r>
                <a:endParaRPr lang="en-IN" sz="16600" dirty="0">
                  <a:latin typeface="Poppins Bold" panose="020B0604020202020204" charset="0"/>
                  <a:cs typeface="Poppins Bold" panose="020B0604020202020204" charset="0"/>
                </a:endParaRPr>
              </a:p>
            </p:txBody>
          </p:sp>
          <p:sp>
            <p:nvSpPr>
              <p:cNvPr id="19" name="Isosceles Triangle 18">
                <a:extLst>
                  <a:ext uri="{FF2B5EF4-FFF2-40B4-BE49-F238E27FC236}">
                    <a16:creationId xmlns:a16="http://schemas.microsoft.com/office/drawing/2014/main" id="{DEFF4B93-0FBC-41BC-48DD-FDAC430D281B}"/>
                  </a:ext>
                </a:extLst>
              </p:cNvPr>
              <p:cNvSpPr/>
              <p:nvPr/>
            </p:nvSpPr>
            <p:spPr>
              <a:xfrm rot="16200000" flipV="1">
                <a:off x="4191000" y="1402377"/>
                <a:ext cx="1082040" cy="381000"/>
              </a:xfrm>
              <a:prstGeom prst="triangle">
                <a:avLst/>
              </a:prstGeom>
              <a:solidFill>
                <a:srgbClr val="6D8A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C217B12-3F55-3C55-CACC-4176A7131AC7}"/>
                </a:ext>
              </a:extLst>
            </p:cNvPr>
            <p:cNvSpPr txBox="1"/>
            <p:nvPr/>
          </p:nvSpPr>
          <p:spPr>
            <a:xfrm>
              <a:off x="-15240" y="2872740"/>
              <a:ext cx="454914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latin typeface="Poppins Bold" panose="020B0604020202020204" charset="0"/>
                  <a:cs typeface="Poppins Bold" panose="020B0604020202020204" charset="0"/>
                </a:rPr>
                <a:t>SHARED OPERATIONS PROTOCOL</a:t>
              </a:r>
              <a:endParaRPr lang="en-IN" sz="3200" dirty="0">
                <a:latin typeface="Poppins Bold" panose="020B0604020202020204" charset="0"/>
                <a:cs typeface="Poppins Bold" panose="020B0604020202020204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05228EB-23F3-EDBC-A6BD-ABED2EAD8FF9}"/>
                </a:ext>
              </a:extLst>
            </p:cNvPr>
            <p:cNvSpPr txBox="1"/>
            <p:nvPr/>
          </p:nvSpPr>
          <p:spPr>
            <a:xfrm>
              <a:off x="373380" y="5143500"/>
              <a:ext cx="3794760" cy="4401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>
                  <a:latin typeface="DM Sans" pitchFamily="2" charset="0"/>
                </a:rPr>
                <a:t>CREATE JOINT MEETING POLICY (PUNCTUALITY, DELAY LIMITS, RESCHEDULE RULES)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endParaRPr lang="en-US" sz="2800" dirty="0">
                <a:latin typeface="DM Sans" pitchFamily="2" charset="0"/>
              </a:endParaRP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>
                  <a:latin typeface="DM Sans" pitchFamily="2" charset="0"/>
                </a:rPr>
                <a:t>USE SHARED TIME-ZONE AWARE CALENDARS</a:t>
              </a:r>
              <a:endParaRPr lang="en-IN" sz="2800" dirty="0">
                <a:latin typeface="DM 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0921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368367" y="3654033"/>
            <a:ext cx="4812609" cy="4786358"/>
          </a:xfrm>
          <a:custGeom>
            <a:avLst/>
            <a:gdLst/>
            <a:ahLst/>
            <a:cxnLst/>
            <a:rect l="l" t="t" r="r" b="b"/>
            <a:pathLst>
              <a:path w="4812609" h="4786358">
                <a:moveTo>
                  <a:pt x="0" y="0"/>
                </a:moveTo>
                <a:lnTo>
                  <a:pt x="4812609" y="0"/>
                </a:lnTo>
                <a:lnTo>
                  <a:pt x="4812609" y="4786359"/>
                </a:lnTo>
                <a:lnTo>
                  <a:pt x="0" y="47863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398897"/>
            <a:ext cx="18287999" cy="1449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81"/>
              </a:lnSpc>
            </a:pPr>
            <a:r>
              <a:rPr lang="en-US" sz="9700" b="1" dirty="0">
                <a:solidFill>
                  <a:srgbClr val="1C212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Poppins Bold"/>
                <a:sym typeface="Poppins Bold"/>
              </a:rPr>
              <a:t>an ENGINEER’S PERSPECTIVE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71903" y="4836097"/>
            <a:ext cx="3431152" cy="73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863"/>
              </a:lnSpc>
              <a:spcBef>
                <a:spcPct val="0"/>
              </a:spcBef>
            </a:pPr>
            <a:r>
              <a:rPr lang="en-US" u="none" spc="82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Focus on better system design, rather than blaming cultural habits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51724" y="2654358"/>
            <a:ext cx="1434243" cy="1504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81"/>
              </a:lnSpc>
            </a:pPr>
            <a:r>
              <a:rPr lang="en-US" sz="11630" b="1" dirty="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62025" y="5925083"/>
            <a:ext cx="2187761" cy="1504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81"/>
              </a:lnSpc>
            </a:pPr>
            <a:r>
              <a:rPr lang="en-US" sz="11630" b="1" dirty="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III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960937" y="5885839"/>
            <a:ext cx="2110871" cy="1504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81"/>
              </a:lnSpc>
            </a:pPr>
            <a:r>
              <a:rPr lang="en-US" sz="11630" b="1" dirty="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IV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022113" y="2595991"/>
            <a:ext cx="1872183" cy="1504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81"/>
              </a:lnSpc>
            </a:pPr>
            <a:r>
              <a:rPr lang="en-US" sz="11630" b="1" dirty="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II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B621B2-B86A-7A92-7D63-912436F84E58}"/>
              </a:ext>
            </a:extLst>
          </p:cNvPr>
          <p:cNvSpPr txBox="1"/>
          <p:nvPr/>
        </p:nvSpPr>
        <p:spPr>
          <a:xfrm>
            <a:off x="1851724" y="3937659"/>
            <a:ext cx="35208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oppins Semi-Bold" panose="020B0604020202020204" charset="0"/>
                <a:cs typeface="Poppins Semi-Bold" panose="020B0604020202020204" charset="0"/>
              </a:rPr>
              <a:t>Analyze the system, not the people</a:t>
            </a:r>
            <a:endParaRPr lang="en-IN" sz="2400" dirty="0">
              <a:latin typeface="Poppins Semi-Bold" panose="020B0604020202020204" charset="0"/>
              <a:cs typeface="Poppins Semi-Bold" panose="020B0604020202020204" charset="0"/>
            </a:endParaRPr>
          </a:p>
        </p:txBody>
      </p:sp>
      <p:sp>
        <p:nvSpPr>
          <p:cNvPr id="22" name="TextBox 12">
            <a:extLst>
              <a:ext uri="{FF2B5EF4-FFF2-40B4-BE49-F238E27FC236}">
                <a16:creationId xmlns:a16="http://schemas.microsoft.com/office/drawing/2014/main" id="{2583F4AB-9F66-BE5F-14C9-9EC3FBCDA1C4}"/>
              </a:ext>
            </a:extLst>
          </p:cNvPr>
          <p:cNvSpPr txBox="1"/>
          <p:nvPr/>
        </p:nvSpPr>
        <p:spPr>
          <a:xfrm>
            <a:off x="13200941" y="4472174"/>
            <a:ext cx="3431152" cy="492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863"/>
              </a:lnSpc>
              <a:spcBef>
                <a:spcPct val="0"/>
              </a:spcBef>
            </a:pPr>
            <a:r>
              <a:rPr lang="en-US" u="none" spc="82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Find why delay happens before suggesting fixes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8D2D9F-ACC0-B515-AAC6-E633E08D46A3}"/>
              </a:ext>
            </a:extLst>
          </p:cNvPr>
          <p:cNvSpPr txBox="1"/>
          <p:nvPr/>
        </p:nvSpPr>
        <p:spPr>
          <a:xfrm>
            <a:off x="13080762" y="3939496"/>
            <a:ext cx="35208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oppins Semi-Bold" panose="020B0604020202020204" charset="0"/>
                <a:cs typeface="Poppins Semi-Bold" panose="020B0604020202020204" charset="0"/>
              </a:rPr>
              <a:t>Identify root causes</a:t>
            </a:r>
            <a:endParaRPr lang="en-IN" sz="2400" dirty="0">
              <a:latin typeface="Poppins Semi-Bold" panose="020B0604020202020204" charset="0"/>
              <a:cs typeface="Poppins Semi-Bold" panose="020B0604020202020204" charset="0"/>
            </a:endParaRPr>
          </a:p>
        </p:txBody>
      </p:sp>
      <p:sp>
        <p:nvSpPr>
          <p:cNvPr id="24" name="TextBox 12">
            <a:extLst>
              <a:ext uri="{FF2B5EF4-FFF2-40B4-BE49-F238E27FC236}">
                <a16:creationId xmlns:a16="http://schemas.microsoft.com/office/drawing/2014/main" id="{16F616D0-0E68-649A-766D-23359689F976}"/>
              </a:ext>
            </a:extLst>
          </p:cNvPr>
          <p:cNvSpPr txBox="1"/>
          <p:nvPr/>
        </p:nvSpPr>
        <p:spPr>
          <a:xfrm>
            <a:off x="1971903" y="8334448"/>
            <a:ext cx="3431152" cy="73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863"/>
              </a:lnSpc>
              <a:spcBef>
                <a:spcPct val="0"/>
              </a:spcBef>
            </a:pPr>
            <a:r>
              <a:rPr lang="en-US" u="none" spc="82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Build flexible systems that work across time zones and cultures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797E40-DE6B-E1E1-9937-BC8588BA7029}"/>
              </a:ext>
            </a:extLst>
          </p:cNvPr>
          <p:cNvSpPr txBox="1"/>
          <p:nvPr/>
        </p:nvSpPr>
        <p:spPr>
          <a:xfrm>
            <a:off x="1851724" y="7390290"/>
            <a:ext cx="35208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oppins Semi-Bold" panose="020B0604020202020204" charset="0"/>
                <a:cs typeface="Poppins Semi-Bold" panose="020B0604020202020204" charset="0"/>
              </a:rPr>
              <a:t>Design adaptive processes</a:t>
            </a:r>
            <a:endParaRPr lang="en-IN" sz="2400" dirty="0">
              <a:latin typeface="Poppins Semi-Bold" panose="020B0604020202020204" charset="0"/>
              <a:cs typeface="Poppins Semi-Bold" panose="020B0604020202020204" charset="0"/>
            </a:endParaRPr>
          </a:p>
        </p:txBody>
      </p:sp>
      <p:sp>
        <p:nvSpPr>
          <p:cNvPr id="26" name="TextBox 12">
            <a:extLst>
              <a:ext uri="{FF2B5EF4-FFF2-40B4-BE49-F238E27FC236}">
                <a16:creationId xmlns:a16="http://schemas.microsoft.com/office/drawing/2014/main" id="{815CAAF5-3534-C8B8-2D79-B000E3965D36}"/>
              </a:ext>
            </a:extLst>
          </p:cNvPr>
          <p:cNvSpPr txBox="1"/>
          <p:nvPr/>
        </p:nvSpPr>
        <p:spPr>
          <a:xfrm>
            <a:off x="13200941" y="8138933"/>
            <a:ext cx="3431152" cy="73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863"/>
              </a:lnSpc>
              <a:spcBef>
                <a:spcPct val="0"/>
              </a:spcBef>
            </a:pPr>
            <a:r>
              <a:rPr lang="en-US" u="none" spc="82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Balance punctuality with respect for diverse work styles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4EF4F5-AAAC-0485-4295-705B725ECB40}"/>
              </a:ext>
            </a:extLst>
          </p:cNvPr>
          <p:cNvSpPr txBox="1"/>
          <p:nvPr/>
        </p:nvSpPr>
        <p:spPr>
          <a:xfrm>
            <a:off x="13080762" y="7255735"/>
            <a:ext cx="35208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oppins Semi-Bold" panose="020B0604020202020204" charset="0"/>
                <a:cs typeface="Poppins Semi-Bold" panose="020B0604020202020204" charset="0"/>
              </a:rPr>
              <a:t>Optimize for efficiency &amp; harmony</a:t>
            </a:r>
            <a:endParaRPr lang="en-IN" sz="2400" dirty="0">
              <a:latin typeface="Poppins Semi-Bold" panose="020B0604020202020204" charset="0"/>
              <a:cs typeface="Poppins Semi-Bold" panose="020B06040202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2"/>
          <p:cNvGrpSpPr/>
          <p:nvPr/>
        </p:nvGrpSpPr>
        <p:grpSpPr>
          <a:xfrm>
            <a:off x="596268" y="2348153"/>
            <a:ext cx="8395331" cy="1327694"/>
            <a:chOff x="0" y="0"/>
            <a:chExt cx="1276137" cy="15343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76137" cy="153435"/>
            </a:xfrm>
            <a:custGeom>
              <a:avLst/>
              <a:gdLst/>
              <a:ahLst/>
              <a:cxnLst/>
              <a:rect l="l" t="t" r="r" b="b"/>
              <a:pathLst>
                <a:path w="1276137" h="153435">
                  <a:moveTo>
                    <a:pt x="76718" y="0"/>
                  </a:moveTo>
                  <a:lnTo>
                    <a:pt x="1199420" y="0"/>
                  </a:lnTo>
                  <a:cubicBezTo>
                    <a:pt x="1219767" y="0"/>
                    <a:pt x="1239280" y="8083"/>
                    <a:pt x="1253667" y="22470"/>
                  </a:cubicBezTo>
                  <a:cubicBezTo>
                    <a:pt x="1268055" y="36857"/>
                    <a:pt x="1276137" y="56371"/>
                    <a:pt x="1276137" y="76718"/>
                  </a:cubicBezTo>
                  <a:lnTo>
                    <a:pt x="1276137" y="76718"/>
                  </a:lnTo>
                  <a:cubicBezTo>
                    <a:pt x="1276137" y="97064"/>
                    <a:pt x="1268055" y="116578"/>
                    <a:pt x="1253667" y="130965"/>
                  </a:cubicBezTo>
                  <a:cubicBezTo>
                    <a:pt x="1239280" y="145353"/>
                    <a:pt x="1219767" y="153435"/>
                    <a:pt x="1199420" y="153435"/>
                  </a:cubicBezTo>
                  <a:lnTo>
                    <a:pt x="76718" y="153435"/>
                  </a:lnTo>
                  <a:cubicBezTo>
                    <a:pt x="56371" y="153435"/>
                    <a:pt x="36857" y="145353"/>
                    <a:pt x="22470" y="130965"/>
                  </a:cubicBezTo>
                  <a:cubicBezTo>
                    <a:pt x="8083" y="116578"/>
                    <a:pt x="0" y="97064"/>
                    <a:pt x="0" y="76718"/>
                  </a:cubicBezTo>
                  <a:lnTo>
                    <a:pt x="0" y="76718"/>
                  </a:lnTo>
                  <a:cubicBezTo>
                    <a:pt x="0" y="56371"/>
                    <a:pt x="8083" y="36857"/>
                    <a:pt x="22470" y="22470"/>
                  </a:cubicBezTo>
                  <a:cubicBezTo>
                    <a:pt x="36857" y="8083"/>
                    <a:pt x="56371" y="0"/>
                    <a:pt x="76718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276137" cy="1915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10558798" y="2697161"/>
            <a:ext cx="4892678" cy="489267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31222" r="-6995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2796261" y="1028700"/>
            <a:ext cx="1463216" cy="1463216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567318" y="2697161"/>
            <a:ext cx="1463216" cy="146321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567318" y="5927221"/>
            <a:ext cx="1463216" cy="1463216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028119" y="1639405"/>
            <a:ext cx="1463216" cy="146321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0388852" y="2066895"/>
            <a:ext cx="741751" cy="608236"/>
          </a:xfrm>
          <a:custGeom>
            <a:avLst/>
            <a:gdLst/>
            <a:ahLst/>
            <a:cxnLst/>
            <a:rect l="l" t="t" r="r" b="b"/>
            <a:pathLst>
              <a:path w="741751" h="608236">
                <a:moveTo>
                  <a:pt x="0" y="0"/>
                </a:moveTo>
                <a:lnTo>
                  <a:pt x="741751" y="0"/>
                </a:lnTo>
                <a:lnTo>
                  <a:pt x="741751" y="608236"/>
                </a:lnTo>
                <a:lnTo>
                  <a:pt x="0" y="6082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3175910" y="1332986"/>
            <a:ext cx="703917" cy="854645"/>
          </a:xfrm>
          <a:custGeom>
            <a:avLst/>
            <a:gdLst/>
            <a:ahLst/>
            <a:cxnLst/>
            <a:rect l="l" t="t" r="r" b="b"/>
            <a:pathLst>
              <a:path w="703917" h="854645">
                <a:moveTo>
                  <a:pt x="0" y="0"/>
                </a:moveTo>
                <a:lnTo>
                  <a:pt x="703917" y="0"/>
                </a:lnTo>
                <a:lnTo>
                  <a:pt x="703917" y="854645"/>
                </a:lnTo>
                <a:lnTo>
                  <a:pt x="0" y="8546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5804764" y="3102622"/>
            <a:ext cx="988326" cy="652295"/>
          </a:xfrm>
          <a:custGeom>
            <a:avLst/>
            <a:gdLst/>
            <a:ahLst/>
            <a:cxnLst/>
            <a:rect l="l" t="t" r="r" b="b"/>
            <a:pathLst>
              <a:path w="988326" h="652295">
                <a:moveTo>
                  <a:pt x="0" y="0"/>
                </a:moveTo>
                <a:lnTo>
                  <a:pt x="988326" y="0"/>
                </a:lnTo>
                <a:lnTo>
                  <a:pt x="988326" y="652295"/>
                </a:lnTo>
                <a:lnTo>
                  <a:pt x="0" y="6522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5875201" y="6240496"/>
            <a:ext cx="847451" cy="836665"/>
          </a:xfrm>
          <a:custGeom>
            <a:avLst/>
            <a:gdLst/>
            <a:ahLst/>
            <a:cxnLst/>
            <a:rect l="l" t="t" r="r" b="b"/>
            <a:pathLst>
              <a:path w="847451" h="836665">
                <a:moveTo>
                  <a:pt x="0" y="0"/>
                </a:moveTo>
                <a:lnTo>
                  <a:pt x="847451" y="0"/>
                </a:lnTo>
                <a:lnTo>
                  <a:pt x="847451" y="836665"/>
                </a:lnTo>
                <a:lnTo>
                  <a:pt x="0" y="8366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142385" y="2452056"/>
            <a:ext cx="8537476" cy="124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58"/>
              </a:lnSpc>
            </a:pPr>
            <a:r>
              <a:rPr lang="en-US" sz="8472" b="1" dirty="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88E2FF-3456-2AD2-57D6-B489C1B74707}"/>
              </a:ext>
            </a:extLst>
          </p:cNvPr>
          <p:cNvSpPr txBox="1"/>
          <p:nvPr/>
        </p:nvSpPr>
        <p:spPr>
          <a:xfrm>
            <a:off x="1142385" y="3816608"/>
            <a:ext cx="876546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DM Sans" pitchFamily="2" charset="0"/>
              </a:rPr>
              <a:t>Global collaboration works best when </a:t>
            </a:r>
            <a:r>
              <a:rPr lang="en-US" sz="2800" b="1" dirty="0">
                <a:solidFill>
                  <a:srgbClr val="445655"/>
                </a:solidFill>
                <a:latin typeface="DM Sans" pitchFamily="2" charset="0"/>
              </a:rPr>
              <a:t>engineered with structure and empathy</a:t>
            </a:r>
            <a:r>
              <a:rPr lang="en-US" sz="2800" dirty="0">
                <a:latin typeface="DM Sans" pitchFamily="2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DM San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445655"/>
                </a:solidFill>
                <a:latin typeface="DM Sans" pitchFamily="2" charset="0"/>
              </a:rPr>
              <a:t>Cultural diversity</a:t>
            </a:r>
            <a:r>
              <a:rPr lang="en-US" sz="2800" dirty="0">
                <a:solidFill>
                  <a:srgbClr val="445655"/>
                </a:solidFill>
                <a:latin typeface="DM Sans" pitchFamily="2" charset="0"/>
              </a:rPr>
              <a:t> </a:t>
            </a:r>
            <a:r>
              <a:rPr lang="en-US" sz="2800" dirty="0">
                <a:latin typeface="DM Sans" pitchFamily="2" charset="0"/>
              </a:rPr>
              <a:t>should be treated as a strength, not a barrier.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DM San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DM Sans" pitchFamily="2" charset="0"/>
              </a:rPr>
              <a:t>Building </a:t>
            </a:r>
            <a:r>
              <a:rPr lang="en-US" sz="2800" b="1" dirty="0">
                <a:solidFill>
                  <a:srgbClr val="445655"/>
                </a:solidFill>
                <a:latin typeface="DM Sans" pitchFamily="2" charset="0"/>
              </a:rPr>
              <a:t>clear systems and shared norms</a:t>
            </a:r>
            <a:r>
              <a:rPr lang="en-US" sz="2800" dirty="0">
                <a:solidFill>
                  <a:srgbClr val="445655"/>
                </a:solidFill>
                <a:latin typeface="DM Sans" pitchFamily="2" charset="0"/>
              </a:rPr>
              <a:t> </a:t>
            </a:r>
            <a:r>
              <a:rPr lang="en-US" sz="2800" dirty="0">
                <a:latin typeface="DM Sans" pitchFamily="2" charset="0"/>
              </a:rPr>
              <a:t>bridges time and communication gaps.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DM San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DM Sans" pitchFamily="2" charset="0"/>
              </a:rPr>
              <a:t>Result → </a:t>
            </a:r>
            <a:r>
              <a:rPr lang="en-US" sz="2800" b="1" dirty="0">
                <a:solidFill>
                  <a:srgbClr val="445655"/>
                </a:solidFill>
                <a:latin typeface="DM Sans" pitchFamily="2" charset="0"/>
              </a:rPr>
              <a:t>Efficient teamwork, mutual respect, and stronger partnerships.</a:t>
            </a:r>
            <a:endParaRPr lang="en-IN" sz="2800" dirty="0">
              <a:solidFill>
                <a:srgbClr val="445655"/>
              </a:solidFill>
              <a:latin typeface="DM Sans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D7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5652409" y="6339283"/>
            <a:ext cx="6983181" cy="81384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8" name="Picture 7" descr="A person with a mustache and a mustache holding his hand up&#10;&#10;AI-generated content may be incorrect.">
            <a:extLst>
              <a:ext uri="{FF2B5EF4-FFF2-40B4-BE49-F238E27FC236}">
                <a16:creationId xmlns:a16="http://schemas.microsoft.com/office/drawing/2014/main" id="{AF3C1A1D-BD56-5A76-032E-47558C04B2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" y="0"/>
            <a:ext cx="18303240" cy="10292307"/>
          </a:xfrm>
          <a:prstGeom prst="rect">
            <a:avLst/>
          </a:prstGeom>
        </p:spPr>
      </p:pic>
      <p:sp>
        <p:nvSpPr>
          <p:cNvPr id="10" name="Freeform 23">
            <a:extLst>
              <a:ext uri="{FF2B5EF4-FFF2-40B4-BE49-F238E27FC236}">
                <a16:creationId xmlns:a16="http://schemas.microsoft.com/office/drawing/2014/main" id="{A9D00FEB-3694-E265-E6E7-3986F85DFE97}"/>
              </a:ext>
            </a:extLst>
          </p:cNvPr>
          <p:cNvSpPr/>
          <p:nvPr/>
        </p:nvSpPr>
        <p:spPr>
          <a:xfrm>
            <a:off x="-15240" y="7872653"/>
            <a:ext cx="18288000" cy="2261947"/>
          </a:xfrm>
          <a:custGeom>
            <a:avLst/>
            <a:gdLst/>
            <a:ahLst/>
            <a:cxnLst/>
            <a:rect l="l" t="t" r="r" b="b"/>
            <a:pathLst>
              <a:path w="1276137" h="153435">
                <a:moveTo>
                  <a:pt x="76718" y="0"/>
                </a:moveTo>
                <a:lnTo>
                  <a:pt x="1199420" y="0"/>
                </a:lnTo>
                <a:cubicBezTo>
                  <a:pt x="1219767" y="0"/>
                  <a:pt x="1239280" y="8083"/>
                  <a:pt x="1253667" y="22470"/>
                </a:cubicBezTo>
                <a:cubicBezTo>
                  <a:pt x="1268055" y="36857"/>
                  <a:pt x="1276137" y="56371"/>
                  <a:pt x="1276137" y="76718"/>
                </a:cubicBezTo>
                <a:lnTo>
                  <a:pt x="1276137" y="76718"/>
                </a:lnTo>
                <a:cubicBezTo>
                  <a:pt x="1276137" y="97064"/>
                  <a:pt x="1268055" y="116578"/>
                  <a:pt x="1253667" y="130965"/>
                </a:cubicBezTo>
                <a:cubicBezTo>
                  <a:pt x="1239280" y="145353"/>
                  <a:pt x="1219767" y="153435"/>
                  <a:pt x="1199420" y="153435"/>
                </a:cubicBezTo>
                <a:lnTo>
                  <a:pt x="76718" y="153435"/>
                </a:lnTo>
                <a:cubicBezTo>
                  <a:pt x="56371" y="153435"/>
                  <a:pt x="36857" y="145353"/>
                  <a:pt x="22470" y="130965"/>
                </a:cubicBezTo>
                <a:cubicBezTo>
                  <a:pt x="8083" y="116578"/>
                  <a:pt x="0" y="97064"/>
                  <a:pt x="0" y="76718"/>
                </a:cubicBezTo>
                <a:lnTo>
                  <a:pt x="0" y="76718"/>
                </a:lnTo>
                <a:cubicBezTo>
                  <a:pt x="0" y="56371"/>
                  <a:pt x="8083" y="36857"/>
                  <a:pt x="22470" y="22470"/>
                </a:cubicBezTo>
                <a:cubicBezTo>
                  <a:pt x="36857" y="8083"/>
                  <a:pt x="56371" y="0"/>
                  <a:pt x="76718" y="0"/>
                </a:cubicBezTo>
                <a:close/>
              </a:path>
            </a:pathLst>
          </a:custGeom>
          <a:solidFill>
            <a:schemeClr val="tx1">
              <a:alpha val="50000"/>
            </a:schemeClr>
          </a:solidFill>
        </p:spPr>
      </p:sp>
      <p:sp>
        <p:nvSpPr>
          <p:cNvPr id="2" name="TextBox 2"/>
          <p:cNvSpPr txBox="1"/>
          <p:nvPr/>
        </p:nvSpPr>
        <p:spPr>
          <a:xfrm>
            <a:off x="304800" y="8496300"/>
            <a:ext cx="17983200" cy="14416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460"/>
              </a:lnSpc>
            </a:pPr>
            <a:r>
              <a:rPr lang="en-US" sz="12023" b="1" dirty="0">
                <a:solidFill>
                  <a:schemeClr val="bg1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 very much!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</TotalTime>
  <Words>485</Words>
  <Application>Microsoft Office PowerPoint</Application>
  <PresentationFormat>Custom</PresentationFormat>
  <Paragraphs>131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Canva Sans Bold</vt:lpstr>
      <vt:lpstr>Calibri</vt:lpstr>
      <vt:lpstr>DM Sans</vt:lpstr>
      <vt:lpstr>Segoe UI Black</vt:lpstr>
      <vt:lpstr>Aptos</vt:lpstr>
      <vt:lpstr>Poppins Semi-Bold</vt:lpstr>
      <vt:lpstr>Poppins</vt:lpstr>
      <vt:lpstr>Poppins Bold</vt:lpstr>
      <vt:lpstr>Arial</vt:lpstr>
      <vt:lpstr>Agency FB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Minimalist Project Presentation</dc:title>
  <dc:creator>loq</dc:creator>
  <cp:lastModifiedBy>Aditya Raj</cp:lastModifiedBy>
  <cp:revision>10</cp:revision>
  <dcterms:created xsi:type="dcterms:W3CDTF">2006-08-16T00:00:00Z</dcterms:created>
  <dcterms:modified xsi:type="dcterms:W3CDTF">2025-10-24T08:14:07Z</dcterms:modified>
  <dc:identifier>DAG2aKMFi1g</dc:identifier>
</cp:coreProperties>
</file>